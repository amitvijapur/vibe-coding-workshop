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is for complete beginners. Introduce this as a chance to build one small working thing with AI. Confirm the official event name before adding it. The demonstration venture and its final prompt are still to be chosen by Amit and Jason.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Verified against the founder-supplied DragonFly deck, slide-copy.md lines 175–198. Amit Vijapur: CTO, Computer Science at Durham, Accenture software engineering internship, built open-source Cortex. Jason Cheng: CEO, Economics at Durham, Entrepreneur Society President, venture capital, investment banking and startup experience. Introduce yourselves briefly. No workshop-specific claims or additional credentials have been invented.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without inventing a total session length. First we run a live demonstration while teaching two frameworks: a useful prompt and a feedback loop. Next allow 5–10 minutes for questions, then everyone builds a small project for 30–45 minutes. Agree the exact duration and speaking split before the workshop. The demonstration and explanation timings remain flexible.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Andrej Karpathy coined the term vibe coding in February 2025. He is an AI researcher, former Tesla AI lead and an OpenAI founding member. His original description meant talking to AI, running its output and accepting changes without closely reading every line, especially for throwaway weekend projects. Today we use that approachable workflow and explicitly check what the output does. The beginner message distinguishes a first prototype from a fully reviewed product. Original post: https://x.com/karpathy/status/1886192184808149383 ; corroborating accounts: https://arstechnica.com/ai/2025/03/is-vibe-coding-with-ai-gnarly-or-reckless-maybe-some-of-both/ and https://apnews.com/article/09f35ccc7545ac92447a19565322f13d . Define prompt as an instruction to AI and prototype as a first working version. Alternate 19-word quotation verified from the original post transcription at https://threadreaderapp.com/thread/1886192184808149383.html and https://www.figma.com/blog/double-click-vibe-coding/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CUE. The chosen concept helps Durham students compare rentals across websites and find compatible flatmates. Use fictional sample listings and profiles in the demonstration, not live aggregation or real personal information. Finalise the actual build prompt with Jason, show it briefly, and submit it to Codex now. Return to the teaching slides while it runs. The club-event example later is a separate teaching example. Have a saved version available as a clearly labelled backup if the live build is still running.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suggested tools are ChatGPT or Claude for conversation, Codex or Claude Code as coding agents, and Cursor or Lovable as other options. The marks shown are official brand assets. The OpenAI mark is used for ChatGPT and Codex; the Claude mark is used for Claude and Claude Code. ChatGPT and Claude can help shape the idea and brief. Codex and Claude Code can build, run and improve a project. Codex is used in today’s demo. Cursor puts AI help alongside project files and an editor. Lovable is a browser-based app builder. These capabilities overlap; the suggested roles are not exclusive restrictions. Participants do not need all three tools. Choose the participant tool in advance and check account access, device requirements and initial project setup before the event. No price or access promises are made. Official references: https://help.openai.com/en/articles/12677804-what-is-chatgpt-faq ; https://openai.com/codex/ ; https://cursor.com/ ; https://docs.cursor.com/chat/overview ; https://lovable.dev/ ; https://support.anthropic.com/en/articles/11145838-using-claude-code-with-your-pro-or-max-plan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FRAMEWORK 1, prompting. These are the five parts adapted from Ducksss’s source workshop: Purpose, Design, Behaviour, Constraints, Verify. A prompt is simply the instruction you give the tool. Explain each part using the exact demo prompt while Codex works. Design includes simple visual references. Behaviour means what happens after an action. Constraints keep the first version small. Verify means naming what you will personally check.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miniature club-event example is for learning; it is not the chosen live venture demonstration. Purpose: students need to find the next club event. Design: simple, readable phone layout. Behaviour: opening the details reveals the time and location. Constraints: one page with fictional details and no login. Verify: the button opens the correct details and the page works on a narrow screen. Point to each sentence and match it to the framework. A fuller real brief can be longer.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FRAMEWORK 2, iteration plus feedback. Define iteration as improving the first version through another round. Check what actually happens, describe a precise improvement, let the tool change it, recheck the result, and save a known working version. The next slide gives the message structure inside Describe; it is not a third framework. A checkpoint is a saved working version. Demonstrate the selected tool’s save/version feature rather than assuming beginners understand Git.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four-part feedback message sits inside Describe in Framework 2. It is not an additional framework. Say what happened, what you expected, what should stay unchanged and how to check the update. Use the example only if it describes a real observation or explain that it is a hypothetical teaching example. Here the event button should reveal time and location, which connects back to the sample prompt.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illustrative follow-up message to the sample event-app prompt, not a report about the live venture demo. Read it in a natural voice. Match the highlighted parts to what happened, expected behaviour, what to keep and how to check. The feedback structure is part of Framework 2, not a third framework.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back to Codex. Show its status and a brief summary of the work. If the build is ready, show the result and compare it with the original brief. Ask what was requested and what the room can observe. If it is still running, say so. Use a saved version only if labelled as prepared earlier; do not claim it was generated live. The next slide gives concrete checks for complete beginners.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distinguish Codex’s report from observed evidence. A summary saying a feature works is not the same as seeing it work. Run the main action, try missing or wrong input when the app has inputs, and check a narrow phone layout. If there are no inputs, choose a relevant alternate state instead. These are suggested checks, not claims of passed tests. Use fictional information only. Review further before collecting personal data, accepting payments or serving real users.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Framework 2 once. Find one genuine mismatch or choose one small audience-requested improvement, describe it using the four message parts, let Codex make the change, recheck it and save. If the original version has no clear bug, intentionally make a small useful improvement. Do not invent a failure. Ensure the room sees how the follow-up relates to their first prompt.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5–10 minutes for questions and discussion immediately after the demonstration, before the participant build. Invite questions about the tools and two frameworks, then introduce the 30–45 minute project activity. Be clear that their result is a prototype, and encourage further checking before real use. Pending review decisions: official event title, venture demo and prompt, presenter ownership, participant tool/account setup and final activity duration. Source teaching material adapted from Chai Pin Zheng (Ducksss), https://github.com/Ducksss/vibe-coding-workshop. Visual direction inspired by Orange by Marmalade 2025, Marmalade Collective, via https://www.deck.gallery/orange-by-marmalade-2025/.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Participants now build their own small project for 30–45 minutes. The four ideas are venture concepts, but the workshop scope is one working interaction with fictional data. For the food idea, browse a few sample meals and reserve one. For freelance work, browse services and request one. For sponsor matching, show sample matches and an interest request. For local services, compare a few fictional quotes. Do not build full marketplaces, payments, real messaging, fulfilment or matching infrastructure. Use fictional data and avoid payments or login. Before the event, agree the participant tool and make sure it is accessible. Amit and Jason circulate and help. A saved project is sufficient; no public deployment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schedule totals exactly 30 minutes: 5 to choose an idea and write the brief, 15 for the first build, 7 to improve and check, and 3 to save a working version. If allocated 45 minutes, use the extra 15 to refine and review with a partner. Ask partners to try the key interaction and give one concrete observation. Stop adding features in the final few minutes and preserve a working result. These timings apply only to the participant activity, not the whole workshop.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final reminder as participants wrap up, or leave it on screen during the activity if useful. There are exactly two frameworks: the five-part brief for the initial prompt, and the iteration-plus-feedback loop for improvement. The four-part feedback message is inside Describe in the second framework. Encourage participants to save this slide or their notes.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Amit LinkedIn verified from the founder-profile source: https://www.linkedin.com/in/amitvijapur/ . Jason LinkedIn supplied directly by the user: https://www.linkedin.com/in/jasoncty/ . The QR codes encode these exact HTTPS URLs and the visible handles are clickable hyperlinks.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everyone for participating. Encourage them to keep their first working version and return to the two frameworks when improving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9.xml"/><Relationship Id="rId4" Type="http://schemas.openxmlformats.org/officeDocument/2006/relationships/image" Target="../media/image11.png"/><Relationship Id="rId5" Type="http://schemas.openxmlformats.org/officeDocument/2006/relationships/hyperlink" Target="https://www.linkedin.com/in/amitvijapur/" TargetMode="External"/><Relationship Id="rId6" Type="http://schemas.openxmlformats.org/officeDocument/2006/relationships/image" Target="../media/image12.png"/><Relationship Id="rId7" Type="http://schemas.openxmlformats.org/officeDocument/2006/relationships/hyperlink" Target="https://www.linkedin.com/in/jasoncty/"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01</a:t>
            </a:r>
          </a:p>
        </p:txBody>
      </p:sp>
      <p:sp>
        <p:nvSpPr>
          <p:cNvPr id="5" name="TextBox 4"/>
          <p:cNvSpPr txBox="1"/>
          <p:nvPr/>
        </p:nvSpPr>
        <p:spPr>
          <a:xfrm>
            <a:off x="576072" y="1554480"/>
            <a:ext cx="7315200" cy="320040"/>
          </a:xfrm>
          <a:prstGeom prst="rect">
            <a:avLst/>
          </a:prstGeom>
          <a:noFill/>
        </p:spPr>
        <p:txBody>
          <a:bodyPr wrap="square" lIns="0" rIns="0" tIns="0" bIns="0" anchor="t">
            <a:spAutoFit/>
          </a:bodyPr>
          <a:lstStyle/>
          <a:p>
            <a:pPr>
              <a:lnSpc>
                <a:spcPct val="106000"/>
              </a:lnSpc>
              <a:spcAft>
                <a:spcPts val="0"/>
              </a:spcAft>
              <a:defRPr sz="1300">
                <a:solidFill>
                  <a:srgbClr val="181918"/>
                </a:solidFill>
                <a:latin typeface="General Sans"/>
              </a:defRPr>
            </a:pPr>
            <a:r>
              <a:t>FROM IDEA TO FIRST PROTOTYPE</a:t>
            </a:r>
          </a:p>
        </p:txBody>
      </p:sp>
      <p:sp>
        <p:nvSpPr>
          <p:cNvPr id="6" name="TextBox 5"/>
          <p:cNvSpPr txBox="1"/>
          <p:nvPr/>
        </p:nvSpPr>
        <p:spPr>
          <a:xfrm>
            <a:off x="457200" y="2258568"/>
            <a:ext cx="11064240" cy="3383280"/>
          </a:xfrm>
          <a:prstGeom prst="rect">
            <a:avLst/>
          </a:prstGeom>
          <a:noFill/>
        </p:spPr>
        <p:txBody>
          <a:bodyPr wrap="square" lIns="0" rIns="0" tIns="0" bIns="0" anchor="t">
            <a:spAutoFit/>
          </a:bodyPr>
          <a:lstStyle/>
          <a:p>
            <a:pPr>
              <a:lnSpc>
                <a:spcPct val="90000"/>
              </a:lnSpc>
              <a:spcAft>
                <a:spcPts val="0"/>
              </a:spcAft>
              <a:defRPr sz="11200">
                <a:solidFill>
                  <a:srgbClr val="181918"/>
                </a:solidFill>
                <a:latin typeface="General Sans Medium"/>
              </a:defRPr>
            </a:pPr>
            <a:r>
              <a:t>Vibe</a:t>
            </a:r>
          </a:p>
          <a:p>
            <a:pPr>
              <a:lnSpc>
                <a:spcPct val="90000"/>
              </a:lnSpc>
              <a:spcAft>
                <a:spcPts val="0"/>
              </a:spcAft>
              <a:defRPr sz="11200">
                <a:solidFill>
                  <a:srgbClr val="181918"/>
                </a:solidFill>
                <a:latin typeface="General Sans Medium"/>
              </a:defRPr>
            </a:pPr>
            <a:r>
              <a:t>coding.</a:t>
            </a:r>
          </a:p>
        </p:txBody>
      </p:sp>
      <p:sp>
        <p:nvSpPr>
          <p:cNvPr id="7" name="TextBox 6"/>
          <p:cNvSpPr txBox="1"/>
          <p:nvPr/>
        </p:nvSpPr>
        <p:spPr>
          <a:xfrm>
            <a:off x="576072" y="6025896"/>
            <a:ext cx="8229600" cy="36576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A workshop with Amit + Jason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rm.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02</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About us</a:t>
            </a:r>
          </a:p>
        </p:txBody>
      </p:sp>
      <p:pic>
        <p:nvPicPr>
          <p:cNvPr id="6" name="Picture 5" descr="amit-cutout.png"/>
          <p:cNvPicPr>
            <a:picLocks noChangeAspect="1"/>
          </p:cNvPicPr>
          <p:nvPr/>
        </p:nvPicPr>
        <p:blipFill>
          <a:blip r:embed="rId4"/>
          <a:stretch>
            <a:fillRect/>
          </a:stretch>
        </p:blipFill>
        <p:spPr>
          <a:xfrm>
            <a:off x="365760" y="2514600"/>
            <a:ext cx="2468880" cy="2222366"/>
          </a:xfrm>
          <a:prstGeom prst="rect">
            <a:avLst/>
          </a:prstGeom>
        </p:spPr>
      </p:pic>
      <p:pic>
        <p:nvPicPr>
          <p:cNvPr id="7" name="Picture 6" descr="jason-cutout.png"/>
          <p:cNvPicPr>
            <a:picLocks noChangeAspect="1"/>
          </p:cNvPicPr>
          <p:nvPr/>
        </p:nvPicPr>
        <p:blipFill>
          <a:blip r:embed="rId5"/>
          <a:stretch>
            <a:fillRect/>
          </a:stretch>
        </p:blipFill>
        <p:spPr>
          <a:xfrm>
            <a:off x="6190488" y="2514600"/>
            <a:ext cx="2468880" cy="2093654"/>
          </a:xfrm>
          <a:prstGeom prst="rect">
            <a:avLst/>
          </a:prstGeom>
        </p:spPr>
      </p:pic>
      <p:sp>
        <p:nvSpPr>
          <p:cNvPr id="8" name="TextBox 7"/>
          <p:cNvSpPr txBox="1"/>
          <p:nvPr/>
        </p:nvSpPr>
        <p:spPr>
          <a:xfrm>
            <a:off x="2834640" y="2377440"/>
            <a:ext cx="3172968" cy="731520"/>
          </a:xfrm>
          <a:prstGeom prst="rect">
            <a:avLst/>
          </a:prstGeom>
          <a:noFill/>
        </p:spPr>
        <p:txBody>
          <a:bodyPr wrap="square" lIns="0" rIns="0" tIns="0" bIns="0" anchor="t">
            <a:spAutoFit/>
          </a:bodyPr>
          <a:lstStyle/>
          <a:p>
            <a:pPr>
              <a:lnSpc>
                <a:spcPct val="106000"/>
              </a:lnSpc>
              <a:spcAft>
                <a:spcPts val="0"/>
              </a:spcAft>
              <a:defRPr sz="3100">
                <a:solidFill>
                  <a:srgbClr val="181918"/>
                </a:solidFill>
                <a:latin typeface="General Sans Medium"/>
              </a:defRPr>
            </a:pPr>
            <a:r>
              <a:t>Amit Vijapur</a:t>
            </a:r>
          </a:p>
        </p:txBody>
      </p:sp>
      <p:sp>
        <p:nvSpPr>
          <p:cNvPr id="9" name="TextBox 8"/>
          <p:cNvSpPr txBox="1"/>
          <p:nvPr/>
        </p:nvSpPr>
        <p:spPr>
          <a:xfrm>
            <a:off x="8659368" y="2377440"/>
            <a:ext cx="2962656" cy="731520"/>
          </a:xfrm>
          <a:prstGeom prst="rect">
            <a:avLst/>
          </a:prstGeom>
          <a:noFill/>
        </p:spPr>
        <p:txBody>
          <a:bodyPr wrap="square" lIns="0" rIns="0" tIns="0" bIns="0" anchor="t">
            <a:spAutoFit/>
          </a:bodyPr>
          <a:lstStyle/>
          <a:p>
            <a:pPr>
              <a:lnSpc>
                <a:spcPct val="106000"/>
              </a:lnSpc>
              <a:spcAft>
                <a:spcPts val="0"/>
              </a:spcAft>
              <a:defRPr sz="3100">
                <a:solidFill>
                  <a:srgbClr val="181918"/>
                </a:solidFill>
                <a:latin typeface="General Sans Medium"/>
              </a:defRPr>
            </a:pPr>
            <a:r>
              <a:t>Jason Cheng</a:t>
            </a:r>
          </a:p>
        </p:txBody>
      </p:sp>
      <p:sp>
        <p:nvSpPr>
          <p:cNvPr id="10" name="TextBox 9"/>
          <p:cNvSpPr txBox="1"/>
          <p:nvPr/>
        </p:nvSpPr>
        <p:spPr>
          <a:xfrm>
            <a:off x="2834640" y="3337560"/>
            <a:ext cx="3172968" cy="2103120"/>
          </a:xfrm>
          <a:prstGeom prst="rect">
            <a:avLst/>
          </a:prstGeom>
          <a:noFill/>
        </p:spPr>
        <p:txBody>
          <a:bodyPr wrap="square" lIns="0" rIns="0" tIns="0" bIns="0" anchor="t">
            <a:spAutoFit/>
          </a:bodyPr>
          <a:lstStyle/>
          <a:p>
            <a:pPr>
              <a:lnSpc>
                <a:spcPct val="125000"/>
              </a:lnSpc>
              <a:spcAft>
                <a:spcPts val="0"/>
              </a:spcAft>
              <a:defRPr sz="2200">
                <a:solidFill>
                  <a:srgbClr val="181918"/>
                </a:solidFill>
                <a:latin typeface="General Sans"/>
              </a:defRPr>
            </a:pPr>
            <a:r>
              <a:t>CTO, DragonFly</a:t>
            </a:r>
          </a:p>
          <a:p>
            <a:pPr>
              <a:lnSpc>
                <a:spcPct val="125000"/>
              </a:lnSpc>
              <a:spcAft>
                <a:spcPts val="0"/>
              </a:spcAft>
              <a:defRPr sz="2200">
                <a:solidFill>
                  <a:srgbClr val="181918"/>
                </a:solidFill>
                <a:latin typeface="General Sans"/>
              </a:defRPr>
            </a:pPr>
            <a:r>
              <a:t>Computer Science,</a:t>
            </a:r>
          </a:p>
          <a:p>
            <a:pPr>
              <a:lnSpc>
                <a:spcPct val="125000"/>
              </a:lnSpc>
              <a:spcAft>
                <a:spcPts val="0"/>
              </a:spcAft>
              <a:defRPr sz="2200">
                <a:solidFill>
                  <a:srgbClr val="181918"/>
                </a:solidFill>
                <a:latin typeface="General Sans"/>
              </a:defRPr>
            </a:pPr>
            <a:r>
              <a:t>Durham</a:t>
            </a:r>
          </a:p>
          <a:p>
            <a:pPr>
              <a:lnSpc>
                <a:spcPct val="125000"/>
              </a:lnSpc>
              <a:spcAft>
                <a:spcPts val="0"/>
              </a:spcAft>
              <a:defRPr sz="2200">
                <a:solidFill>
                  <a:srgbClr val="181918"/>
                </a:solidFill>
                <a:latin typeface="General Sans"/>
              </a:defRPr>
            </a:pPr>
            <a:r>
              <a:t>AWS SBGL</a:t>
            </a:r>
          </a:p>
        </p:txBody>
      </p:sp>
      <p:sp>
        <p:nvSpPr>
          <p:cNvPr id="11" name="TextBox 10"/>
          <p:cNvSpPr txBox="1"/>
          <p:nvPr/>
        </p:nvSpPr>
        <p:spPr>
          <a:xfrm>
            <a:off x="8659368" y="3337560"/>
            <a:ext cx="2962656" cy="2103120"/>
          </a:xfrm>
          <a:prstGeom prst="rect">
            <a:avLst/>
          </a:prstGeom>
          <a:noFill/>
        </p:spPr>
        <p:txBody>
          <a:bodyPr wrap="square" lIns="0" rIns="0" tIns="0" bIns="0" anchor="t">
            <a:spAutoFit/>
          </a:bodyPr>
          <a:lstStyle/>
          <a:p>
            <a:pPr>
              <a:lnSpc>
                <a:spcPct val="125000"/>
              </a:lnSpc>
              <a:spcAft>
                <a:spcPts val="0"/>
              </a:spcAft>
              <a:defRPr sz="2200">
                <a:solidFill>
                  <a:srgbClr val="181918"/>
                </a:solidFill>
                <a:latin typeface="General Sans"/>
              </a:defRPr>
            </a:pPr>
            <a:r>
              <a:t>CEO, DragonFly</a:t>
            </a:r>
          </a:p>
          <a:p>
            <a:pPr>
              <a:lnSpc>
                <a:spcPct val="125000"/>
              </a:lnSpc>
              <a:spcAft>
                <a:spcPts val="0"/>
              </a:spcAft>
              <a:defRPr sz="2200">
                <a:solidFill>
                  <a:srgbClr val="181918"/>
                </a:solidFill>
                <a:latin typeface="General Sans"/>
              </a:defRPr>
            </a:pPr>
            <a:r>
              <a:t>Economics, Durham</a:t>
            </a:r>
          </a:p>
          <a:p>
            <a:pPr>
              <a:lnSpc>
                <a:spcPct val="125000"/>
              </a:lnSpc>
              <a:spcAft>
                <a:spcPts val="0"/>
              </a:spcAft>
              <a:defRPr sz="2200">
                <a:solidFill>
                  <a:srgbClr val="181918"/>
                </a:solidFill>
                <a:latin typeface="General Sans"/>
              </a:defRPr>
            </a:pPr>
            <a:r>
              <a:t>Entrepreneur Society</a:t>
            </a:r>
          </a:p>
          <a:p>
            <a:pPr>
              <a:lnSpc>
                <a:spcPct val="125000"/>
              </a:lnSpc>
              <a:spcAft>
                <a:spcPts val="0"/>
              </a:spcAft>
              <a:defRPr sz="2200">
                <a:solidFill>
                  <a:srgbClr val="181918"/>
                </a:solidFill>
                <a:latin typeface="General Sans"/>
              </a:defRPr>
            </a:pPr>
            <a:r>
              <a:t>President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un.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03</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Workshop plan</a:t>
            </a:r>
          </a:p>
        </p:txBody>
      </p:sp>
      <p:sp>
        <p:nvSpPr>
          <p:cNvPr id="6" name="TextBox 5"/>
          <p:cNvSpPr txBox="1"/>
          <p:nvPr/>
        </p:nvSpPr>
        <p:spPr>
          <a:xfrm>
            <a:off x="594360" y="2350008"/>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01</a:t>
            </a:r>
          </a:p>
        </p:txBody>
      </p:sp>
      <p:sp>
        <p:nvSpPr>
          <p:cNvPr id="7" name="TextBox 6"/>
          <p:cNvSpPr txBox="1"/>
          <p:nvPr/>
        </p:nvSpPr>
        <p:spPr>
          <a:xfrm>
            <a:off x="1371600" y="2313432"/>
            <a:ext cx="6492240" cy="548640"/>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Live demo + two frameworks</a:t>
            </a:r>
          </a:p>
        </p:txBody>
      </p:sp>
      <p:sp>
        <p:nvSpPr>
          <p:cNvPr id="8" name="TextBox 7"/>
          <p:cNvSpPr txBox="1"/>
          <p:nvPr/>
        </p:nvSpPr>
        <p:spPr>
          <a:xfrm>
            <a:off x="1371600" y="2871215"/>
            <a:ext cx="9875520" cy="45720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Build in the background as we learn.</a:t>
            </a:r>
          </a:p>
        </p:txBody>
      </p:sp>
      <p:sp>
        <p:nvSpPr>
          <p:cNvPr id="9" name="TextBox 8"/>
          <p:cNvSpPr txBox="1"/>
          <p:nvPr/>
        </p:nvSpPr>
        <p:spPr>
          <a:xfrm>
            <a:off x="594360" y="3355848"/>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02</a:t>
            </a:r>
          </a:p>
        </p:txBody>
      </p:sp>
      <p:sp>
        <p:nvSpPr>
          <p:cNvPr id="10" name="TextBox 9"/>
          <p:cNvSpPr txBox="1"/>
          <p:nvPr/>
        </p:nvSpPr>
        <p:spPr>
          <a:xfrm>
            <a:off x="1371600" y="3319272"/>
            <a:ext cx="6492240" cy="548640"/>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Questions + discussion</a:t>
            </a:r>
          </a:p>
        </p:txBody>
      </p:sp>
      <p:sp>
        <p:nvSpPr>
          <p:cNvPr id="11" name="TextBox 10"/>
          <p:cNvSpPr txBox="1"/>
          <p:nvPr/>
        </p:nvSpPr>
        <p:spPr>
          <a:xfrm>
            <a:off x="1371600" y="3877056"/>
            <a:ext cx="9875520" cy="45720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5–10 minutes</a:t>
            </a:r>
          </a:p>
        </p:txBody>
      </p:sp>
      <p:sp>
        <p:nvSpPr>
          <p:cNvPr id="12" name="TextBox 11"/>
          <p:cNvSpPr txBox="1"/>
          <p:nvPr/>
        </p:nvSpPr>
        <p:spPr>
          <a:xfrm>
            <a:off x="594360" y="4361688"/>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03</a:t>
            </a:r>
          </a:p>
        </p:txBody>
      </p:sp>
      <p:sp>
        <p:nvSpPr>
          <p:cNvPr id="13" name="TextBox 12"/>
          <p:cNvSpPr txBox="1"/>
          <p:nvPr/>
        </p:nvSpPr>
        <p:spPr>
          <a:xfrm>
            <a:off x="1371600" y="4325112"/>
            <a:ext cx="6492240" cy="548640"/>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Your own small project</a:t>
            </a:r>
          </a:p>
        </p:txBody>
      </p:sp>
      <p:sp>
        <p:nvSpPr>
          <p:cNvPr id="14" name="TextBox 13"/>
          <p:cNvSpPr txBox="1"/>
          <p:nvPr/>
        </p:nvSpPr>
        <p:spPr>
          <a:xfrm>
            <a:off x="1371600" y="4882896"/>
            <a:ext cx="9875520" cy="45720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30–45 minutes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04</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What is vibe coding?</a:t>
            </a:r>
          </a:p>
        </p:txBody>
      </p:sp>
      <p:sp>
        <p:nvSpPr>
          <p:cNvPr id="6" name="TextBox 5"/>
          <p:cNvSpPr txBox="1"/>
          <p:nvPr/>
        </p:nvSpPr>
        <p:spPr>
          <a:xfrm>
            <a:off x="594360" y="1810512"/>
            <a:ext cx="10972800" cy="1106424"/>
          </a:xfrm>
          <a:prstGeom prst="rect">
            <a:avLst/>
          </a:prstGeom>
          <a:noFill/>
        </p:spPr>
        <p:txBody>
          <a:bodyPr wrap="square" lIns="0" rIns="0" tIns="0" bIns="0" anchor="t">
            <a:spAutoFit/>
          </a:bodyPr>
          <a:lstStyle/>
          <a:p>
            <a:pPr>
              <a:lnSpc>
                <a:spcPct val="108000"/>
              </a:lnSpc>
              <a:spcAft>
                <a:spcPts val="0"/>
              </a:spcAft>
              <a:defRPr sz="3300">
                <a:solidFill>
                  <a:srgbClr val="181918"/>
                </a:solidFill>
                <a:latin typeface="General Sans Medium"/>
              </a:defRPr>
            </a:pPr>
            <a:r>
              <a:t>You can build a first prototype</a:t>
            </a:r>
          </a:p>
          <a:p>
            <a:pPr>
              <a:lnSpc>
                <a:spcPct val="108000"/>
              </a:lnSpc>
              <a:spcAft>
                <a:spcPts val="0"/>
              </a:spcAft>
              <a:defRPr sz="3300">
                <a:solidFill>
                  <a:srgbClr val="181918"/>
                </a:solidFill>
                <a:latin typeface="General Sans Medium"/>
              </a:defRPr>
            </a:pPr>
            <a:r>
              <a:t>without knowing how to code.</a:t>
            </a:r>
          </a:p>
        </p:txBody>
      </p:sp>
      <p:sp>
        <p:nvSpPr>
          <p:cNvPr id="7" name="TextBox 6"/>
          <p:cNvSpPr txBox="1"/>
          <p:nvPr/>
        </p:nvSpPr>
        <p:spPr>
          <a:xfrm>
            <a:off x="594360" y="3081528"/>
            <a:ext cx="10972800" cy="566928"/>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a:defRPr>
            </a:pPr>
            <a:r>
              <a:t>You describe what you want. AI writes the code.</a:t>
            </a:r>
          </a:p>
        </p:txBody>
      </p:sp>
      <p:sp>
        <p:nvSpPr>
          <p:cNvPr id="8" name="TextBox 7"/>
          <p:cNvSpPr txBox="1"/>
          <p:nvPr/>
        </p:nvSpPr>
        <p:spPr>
          <a:xfrm>
            <a:off x="594360" y="3895344"/>
            <a:ext cx="10972800" cy="978408"/>
          </a:xfrm>
          <a:prstGeom prst="rect">
            <a:avLst/>
          </a:prstGeom>
          <a:noFill/>
        </p:spPr>
        <p:txBody>
          <a:bodyPr wrap="square" lIns="0" rIns="0" tIns="0" bIns="0" anchor="t">
            <a:spAutoFit/>
          </a:bodyPr>
          <a:lstStyle/>
          <a:p>
            <a:pPr>
              <a:lnSpc>
                <a:spcPct val="112000"/>
              </a:lnSpc>
              <a:spcAft>
                <a:spcPts val="0"/>
              </a:spcAft>
              <a:defRPr sz="2600">
                <a:solidFill>
                  <a:srgbClr val="181918"/>
                </a:solidFill>
                <a:latin typeface="General Sans"/>
              </a:defRPr>
            </a:pPr>
            <a:r>
              <a:t>“I just see stuff, say stuff, run stuff, and copy paste stuff,</a:t>
            </a:r>
          </a:p>
          <a:p>
            <a:pPr>
              <a:lnSpc>
                <a:spcPct val="112000"/>
              </a:lnSpc>
              <a:spcAft>
                <a:spcPts val="0"/>
              </a:spcAft>
              <a:defRPr sz="2600">
                <a:solidFill>
                  <a:srgbClr val="181918"/>
                </a:solidFill>
                <a:latin typeface="General Sans"/>
              </a:defRPr>
            </a:pPr>
            <a:r>
              <a:t>and it mostly works.”</a:t>
            </a:r>
          </a:p>
        </p:txBody>
      </p:sp>
      <p:sp>
        <p:nvSpPr>
          <p:cNvPr id="9" name="TextBox 8"/>
          <p:cNvSpPr txBox="1"/>
          <p:nvPr/>
        </p:nvSpPr>
        <p:spPr>
          <a:xfrm>
            <a:off x="594360" y="5120640"/>
            <a:ext cx="10972800" cy="841248"/>
          </a:xfrm>
          <a:prstGeom prst="rect">
            <a:avLst/>
          </a:prstGeom>
          <a:noFill/>
        </p:spPr>
        <p:txBody>
          <a:bodyPr wrap="square" lIns="0" rIns="0" tIns="0" bIns="0" anchor="t">
            <a:spAutoFit/>
          </a:bodyPr>
          <a:lstStyle/>
          <a:p>
            <a:pPr>
              <a:lnSpc>
                <a:spcPct val="116000"/>
              </a:lnSpc>
              <a:spcAft>
                <a:spcPts val="0"/>
              </a:spcAft>
              <a:defRPr sz="1900">
                <a:solidFill>
                  <a:srgbClr val="50504B"/>
                </a:solidFill>
                <a:latin typeface="General Sans"/>
              </a:defRPr>
            </a:pPr>
            <a:r>
              <a:t>Andrej Karpathy, AI researcher and former Tesla AI lead.</a:t>
            </a:r>
          </a:p>
          <a:p>
            <a:pPr>
              <a:lnSpc>
                <a:spcPct val="116000"/>
              </a:lnSpc>
              <a:spcAft>
                <a:spcPts val="0"/>
              </a:spcAft>
              <a:defRPr sz="1900">
                <a:solidFill>
                  <a:srgbClr val="50504B"/>
                </a:solidFill>
                <a:latin typeface="General Sans"/>
              </a:defRPr>
            </a:pPr>
            <a:r>
              <a:t>He named it in February 2025: building with AI without reading every line.</a:t>
            </a:r>
          </a:p>
        </p:txBody>
      </p:sp>
      <p:sp>
        <p:nvSpPr>
          <p:cNvPr id="10" name="TextBox 9"/>
          <p:cNvSpPr txBox="1"/>
          <p:nvPr/>
        </p:nvSpPr>
        <p:spPr>
          <a:xfrm>
            <a:off x="594360" y="6199632"/>
            <a:ext cx="10972800" cy="393192"/>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You still need to check what it builds.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ol.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05</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Live demo</a:t>
            </a:r>
          </a:p>
        </p:txBody>
      </p:sp>
      <p:sp>
        <p:nvSpPr>
          <p:cNvPr id="6" name="TextBox 5"/>
          <p:cNvSpPr txBox="1"/>
          <p:nvPr/>
        </p:nvSpPr>
        <p:spPr>
          <a:xfrm>
            <a:off x="585216" y="3794760"/>
            <a:ext cx="10972800" cy="822960"/>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a:defRPr>
            </a:pPr>
            <a:r>
              <a:t>One audience. One problem. One useful action.</a:t>
            </a:r>
          </a:p>
        </p:txBody>
      </p:sp>
      <p:sp>
        <p:nvSpPr>
          <p:cNvPr id="7" name="Rectangle 6"/>
          <p:cNvSpPr/>
          <p:nvPr/>
        </p:nvSpPr>
        <p:spPr>
          <a:xfrm>
            <a:off x="585216" y="4910328"/>
            <a:ext cx="10991088" cy="8229"/>
          </a:xfrm>
          <a:prstGeom prst="rect">
            <a:avLst/>
          </a:prstGeom>
          <a:solidFill>
            <a:srgbClr val="78909D"/>
          </a:solidFill>
          <a:ln>
            <a:noFill/>
          </a:ln>
          <a:effectLst/>
        </p:spPr>
        <p:txBody>
          <a:bodyPr rtlCol="0" anchor="ctr"/>
          <a:lstStyle/>
          <a:p>
            <a:pPr algn="ctr"/>
          </a:p>
        </p:txBody>
      </p:sp>
      <p:sp>
        <p:nvSpPr>
          <p:cNvPr id="8" name="TextBox 7"/>
          <p:cNvSpPr txBox="1"/>
          <p:nvPr/>
        </p:nvSpPr>
        <p:spPr>
          <a:xfrm>
            <a:off x="585216" y="5230368"/>
            <a:ext cx="2743200" cy="274320"/>
          </a:xfrm>
          <a:prstGeom prst="rect">
            <a:avLst/>
          </a:prstGeom>
          <a:noFill/>
        </p:spPr>
        <p:txBody>
          <a:bodyPr wrap="square" lIns="0" rIns="0" tIns="0" bIns="0" anchor="t">
            <a:spAutoFit/>
          </a:bodyPr>
          <a:lstStyle/>
          <a:p>
            <a:pPr>
              <a:lnSpc>
                <a:spcPct val="106000"/>
              </a:lnSpc>
              <a:spcAft>
                <a:spcPts val="0"/>
              </a:spcAft>
              <a:defRPr sz="1200">
                <a:solidFill>
                  <a:srgbClr val="181918"/>
                </a:solidFill>
                <a:latin typeface="General Sans Medium"/>
              </a:defRPr>
            </a:pPr>
            <a:r>
              <a:t>DEMO CONCEPT</a:t>
            </a:r>
          </a:p>
        </p:txBody>
      </p:sp>
      <p:sp>
        <p:nvSpPr>
          <p:cNvPr id="9" name="TextBox 8"/>
          <p:cNvSpPr txBox="1"/>
          <p:nvPr/>
        </p:nvSpPr>
        <p:spPr>
          <a:xfrm>
            <a:off x="3136392" y="5120640"/>
            <a:ext cx="8449056" cy="960120"/>
          </a:xfrm>
          <a:prstGeom prst="rect">
            <a:avLst/>
          </a:prstGeom>
          <a:noFill/>
        </p:spPr>
        <p:txBody>
          <a:bodyPr wrap="square" lIns="0" rIns="0" tIns="0" bIns="0" anchor="t">
            <a:spAutoFit/>
          </a:bodyPr>
          <a:lstStyle/>
          <a:p>
            <a:pPr>
              <a:lnSpc>
                <a:spcPct val="106000"/>
              </a:lnSpc>
              <a:spcAft>
                <a:spcPts val="0"/>
              </a:spcAft>
              <a:defRPr sz="2300">
                <a:solidFill>
                  <a:srgbClr val="181918"/>
                </a:solidFill>
                <a:latin typeface="General Sans"/>
              </a:defRPr>
            </a:pPr>
            <a:r>
              <a:t>A tool that helps Durham students compare rentals across websites and find compatible flatmates.</a:t>
            </a:r>
          </a:p>
        </p:txBody>
      </p:sp>
      <p:sp>
        <p:nvSpPr>
          <p:cNvPr id="10" name="TextBox 9"/>
          <p:cNvSpPr txBox="1"/>
          <p:nvPr/>
        </p:nvSpPr>
        <p:spPr>
          <a:xfrm>
            <a:off x="585216" y="6172200"/>
            <a:ext cx="10789920" cy="274320"/>
          </a:xfrm>
          <a:prstGeom prst="rect">
            <a:avLst/>
          </a:prstGeom>
          <a:noFill/>
        </p:spPr>
        <p:txBody>
          <a:bodyPr wrap="square" lIns="0" rIns="0" tIns="0" bIns="0" anchor="t">
            <a:spAutoFit/>
          </a:bodyPr>
          <a:lstStyle/>
          <a:p>
            <a:pPr>
              <a:lnSpc>
                <a:spcPct val="106000"/>
              </a:lnSpc>
              <a:spcAft>
                <a:spcPts val="0"/>
              </a:spcAft>
              <a:defRPr sz="1400">
                <a:solidFill>
                  <a:srgbClr val="181918"/>
                </a:solidFill>
                <a:latin typeface="General Sans"/>
              </a:defRPr>
            </a:pPr>
            <a:r>
              <a:t>Start the build in Codex. Then return 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06</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AI tools</a:t>
            </a:r>
          </a:p>
        </p:txBody>
      </p:sp>
      <p:sp>
        <p:nvSpPr>
          <p:cNvPr id="6" name="Rectangle 5"/>
          <p:cNvSpPr/>
          <p:nvPr/>
        </p:nvSpPr>
        <p:spPr>
          <a:xfrm>
            <a:off x="594360" y="2240280"/>
            <a:ext cx="3209544" cy="50292"/>
          </a:xfrm>
          <a:prstGeom prst="rect">
            <a:avLst/>
          </a:prstGeom>
          <a:solidFill>
            <a:srgbClr val="E8C6BE"/>
          </a:solidFill>
          <a:ln>
            <a:noFill/>
          </a:ln>
          <a:effectLst/>
        </p:spPr>
        <p:txBody>
          <a:bodyPr rtlCol="0" anchor="ctr"/>
          <a:lstStyle/>
          <a:p>
            <a:pPr algn="ctr"/>
          </a:p>
        </p:txBody>
      </p:sp>
      <p:pic>
        <p:nvPicPr>
          <p:cNvPr id="7" name="Picture 6" descr="openai.png"/>
          <p:cNvPicPr>
            <a:picLocks noChangeAspect="1"/>
          </p:cNvPicPr>
          <p:nvPr/>
        </p:nvPicPr>
        <p:blipFill>
          <a:blip r:embed="rId4"/>
          <a:stretch>
            <a:fillRect/>
          </a:stretch>
        </p:blipFill>
        <p:spPr>
          <a:xfrm>
            <a:off x="594360" y="2715768"/>
            <a:ext cx="585216" cy="585216"/>
          </a:xfrm>
          <a:prstGeom prst="rect">
            <a:avLst/>
          </a:prstGeom>
        </p:spPr>
      </p:pic>
      <p:sp>
        <p:nvSpPr>
          <p:cNvPr id="8" name="TextBox 7"/>
          <p:cNvSpPr txBox="1"/>
          <p:nvPr/>
        </p:nvSpPr>
        <p:spPr>
          <a:xfrm>
            <a:off x="1380744" y="2770632"/>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ChatGPT</a:t>
            </a:r>
          </a:p>
        </p:txBody>
      </p:sp>
      <p:pic>
        <p:nvPicPr>
          <p:cNvPr id="9" name="Picture 8" descr="claude.png"/>
          <p:cNvPicPr>
            <a:picLocks noChangeAspect="1"/>
          </p:cNvPicPr>
          <p:nvPr/>
        </p:nvPicPr>
        <p:blipFill>
          <a:blip r:embed="rId5"/>
          <a:stretch>
            <a:fillRect/>
          </a:stretch>
        </p:blipFill>
        <p:spPr>
          <a:xfrm>
            <a:off x="594360" y="3840480"/>
            <a:ext cx="585216" cy="585216"/>
          </a:xfrm>
          <a:prstGeom prst="rect">
            <a:avLst/>
          </a:prstGeom>
        </p:spPr>
      </p:pic>
      <p:sp>
        <p:nvSpPr>
          <p:cNvPr id="10" name="TextBox 9"/>
          <p:cNvSpPr txBox="1"/>
          <p:nvPr/>
        </p:nvSpPr>
        <p:spPr>
          <a:xfrm>
            <a:off x="1380744" y="3895344"/>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Claude</a:t>
            </a:r>
          </a:p>
        </p:txBody>
      </p:sp>
      <p:sp>
        <p:nvSpPr>
          <p:cNvPr id="11" name="TextBox 10"/>
          <p:cNvSpPr txBox="1"/>
          <p:nvPr/>
        </p:nvSpPr>
        <p:spPr>
          <a:xfrm>
            <a:off x="594360" y="4937760"/>
            <a:ext cx="3227832" cy="1216152"/>
          </a:xfrm>
          <a:prstGeom prst="rect">
            <a:avLst/>
          </a:prstGeom>
          <a:noFill/>
        </p:spPr>
        <p:txBody>
          <a:bodyPr wrap="square" lIns="0" rIns="0" tIns="0" bIns="0" anchor="t">
            <a:spAutoFit/>
          </a:bodyPr>
          <a:lstStyle/>
          <a:p>
            <a:pPr>
              <a:lnSpc>
                <a:spcPct val="113000"/>
              </a:lnSpc>
              <a:spcAft>
                <a:spcPts val="0"/>
              </a:spcAft>
              <a:defRPr sz="2100">
                <a:solidFill>
                  <a:srgbClr val="181918"/>
                </a:solidFill>
                <a:latin typeface="General Sans"/>
              </a:defRPr>
            </a:pPr>
            <a:r>
              <a:t>Shape your idea and write your brief.</a:t>
            </a:r>
          </a:p>
        </p:txBody>
      </p:sp>
      <p:sp>
        <p:nvSpPr>
          <p:cNvPr id="12" name="Rectangle 11"/>
          <p:cNvSpPr/>
          <p:nvPr/>
        </p:nvSpPr>
        <p:spPr>
          <a:xfrm>
            <a:off x="4489704" y="2240280"/>
            <a:ext cx="3209544" cy="50292"/>
          </a:xfrm>
          <a:prstGeom prst="rect">
            <a:avLst/>
          </a:prstGeom>
          <a:solidFill>
            <a:srgbClr val="C7D9EB"/>
          </a:solidFill>
          <a:ln>
            <a:noFill/>
          </a:ln>
          <a:effectLst/>
        </p:spPr>
        <p:txBody>
          <a:bodyPr rtlCol="0" anchor="ctr"/>
          <a:lstStyle/>
          <a:p>
            <a:pPr algn="ctr"/>
          </a:p>
        </p:txBody>
      </p:sp>
      <p:pic>
        <p:nvPicPr>
          <p:cNvPr id="13" name="Picture 12" descr="openai.png"/>
          <p:cNvPicPr>
            <a:picLocks noChangeAspect="1"/>
          </p:cNvPicPr>
          <p:nvPr/>
        </p:nvPicPr>
        <p:blipFill>
          <a:blip r:embed="rId4"/>
          <a:stretch>
            <a:fillRect/>
          </a:stretch>
        </p:blipFill>
        <p:spPr>
          <a:xfrm>
            <a:off x="4489704" y="2715768"/>
            <a:ext cx="585216" cy="585216"/>
          </a:xfrm>
          <a:prstGeom prst="rect">
            <a:avLst/>
          </a:prstGeom>
        </p:spPr>
      </p:pic>
      <p:sp>
        <p:nvSpPr>
          <p:cNvPr id="14" name="TextBox 13"/>
          <p:cNvSpPr txBox="1"/>
          <p:nvPr/>
        </p:nvSpPr>
        <p:spPr>
          <a:xfrm>
            <a:off x="5276088" y="2770632"/>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Codex</a:t>
            </a:r>
          </a:p>
        </p:txBody>
      </p:sp>
      <p:pic>
        <p:nvPicPr>
          <p:cNvPr id="15" name="Picture 14" descr="claude.png"/>
          <p:cNvPicPr>
            <a:picLocks noChangeAspect="1"/>
          </p:cNvPicPr>
          <p:nvPr/>
        </p:nvPicPr>
        <p:blipFill>
          <a:blip r:embed="rId5"/>
          <a:stretch>
            <a:fillRect/>
          </a:stretch>
        </p:blipFill>
        <p:spPr>
          <a:xfrm>
            <a:off x="4489704" y="3840480"/>
            <a:ext cx="585216" cy="585216"/>
          </a:xfrm>
          <a:prstGeom prst="rect">
            <a:avLst/>
          </a:prstGeom>
        </p:spPr>
      </p:pic>
      <p:sp>
        <p:nvSpPr>
          <p:cNvPr id="16" name="TextBox 15"/>
          <p:cNvSpPr txBox="1"/>
          <p:nvPr/>
        </p:nvSpPr>
        <p:spPr>
          <a:xfrm>
            <a:off x="5276088" y="3895344"/>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Claude Code</a:t>
            </a:r>
          </a:p>
        </p:txBody>
      </p:sp>
      <p:sp>
        <p:nvSpPr>
          <p:cNvPr id="17" name="TextBox 16"/>
          <p:cNvSpPr txBox="1"/>
          <p:nvPr/>
        </p:nvSpPr>
        <p:spPr>
          <a:xfrm>
            <a:off x="4489704" y="4937760"/>
            <a:ext cx="3227832" cy="1216152"/>
          </a:xfrm>
          <a:prstGeom prst="rect">
            <a:avLst/>
          </a:prstGeom>
          <a:noFill/>
        </p:spPr>
        <p:txBody>
          <a:bodyPr wrap="square" lIns="0" rIns="0" tIns="0" bIns="0" anchor="t">
            <a:spAutoFit/>
          </a:bodyPr>
          <a:lstStyle/>
          <a:p>
            <a:pPr>
              <a:lnSpc>
                <a:spcPct val="113000"/>
              </a:lnSpc>
              <a:spcAft>
                <a:spcPts val="0"/>
              </a:spcAft>
              <a:defRPr sz="2100">
                <a:solidFill>
                  <a:srgbClr val="181918"/>
                </a:solidFill>
                <a:latin typeface="General Sans"/>
              </a:defRPr>
            </a:pPr>
            <a:r>
              <a:t>Ask AI to build, run and improve your project.</a:t>
            </a:r>
          </a:p>
        </p:txBody>
      </p:sp>
      <p:sp>
        <p:nvSpPr>
          <p:cNvPr id="18" name="Rectangle 17"/>
          <p:cNvSpPr/>
          <p:nvPr/>
        </p:nvSpPr>
        <p:spPr>
          <a:xfrm>
            <a:off x="8385048" y="2240280"/>
            <a:ext cx="3209544" cy="50292"/>
          </a:xfrm>
          <a:prstGeom prst="rect">
            <a:avLst/>
          </a:prstGeom>
          <a:solidFill>
            <a:srgbClr val="D4DEC0"/>
          </a:solidFill>
          <a:ln>
            <a:noFill/>
          </a:ln>
          <a:effectLst/>
        </p:spPr>
        <p:txBody>
          <a:bodyPr rtlCol="0" anchor="ctr"/>
          <a:lstStyle/>
          <a:p>
            <a:pPr algn="ctr"/>
          </a:p>
        </p:txBody>
      </p:sp>
      <p:pic>
        <p:nvPicPr>
          <p:cNvPr id="19" name="Picture 18" descr="cursor.png"/>
          <p:cNvPicPr>
            <a:picLocks noChangeAspect="1"/>
          </p:cNvPicPr>
          <p:nvPr/>
        </p:nvPicPr>
        <p:blipFill>
          <a:blip r:embed="rId6"/>
          <a:stretch>
            <a:fillRect/>
          </a:stretch>
        </p:blipFill>
        <p:spPr>
          <a:xfrm>
            <a:off x="8385048" y="2715768"/>
            <a:ext cx="585216" cy="585216"/>
          </a:xfrm>
          <a:prstGeom prst="rect">
            <a:avLst/>
          </a:prstGeom>
        </p:spPr>
      </p:pic>
      <p:sp>
        <p:nvSpPr>
          <p:cNvPr id="20" name="TextBox 19"/>
          <p:cNvSpPr txBox="1"/>
          <p:nvPr/>
        </p:nvSpPr>
        <p:spPr>
          <a:xfrm>
            <a:off x="9171432" y="2770632"/>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Cursor</a:t>
            </a:r>
          </a:p>
        </p:txBody>
      </p:sp>
      <p:pic>
        <p:nvPicPr>
          <p:cNvPr id="21" name="Picture 20" descr="lovable.png"/>
          <p:cNvPicPr>
            <a:picLocks noChangeAspect="1"/>
          </p:cNvPicPr>
          <p:nvPr/>
        </p:nvPicPr>
        <p:blipFill>
          <a:blip r:embed="rId7"/>
          <a:stretch>
            <a:fillRect/>
          </a:stretch>
        </p:blipFill>
        <p:spPr>
          <a:xfrm>
            <a:off x="8385048" y="3840480"/>
            <a:ext cx="585216" cy="585216"/>
          </a:xfrm>
          <a:prstGeom prst="rect">
            <a:avLst/>
          </a:prstGeom>
        </p:spPr>
      </p:pic>
      <p:sp>
        <p:nvSpPr>
          <p:cNvPr id="22" name="TextBox 21"/>
          <p:cNvSpPr txBox="1"/>
          <p:nvPr/>
        </p:nvSpPr>
        <p:spPr>
          <a:xfrm>
            <a:off x="9171432" y="3895344"/>
            <a:ext cx="2468880" cy="539496"/>
          </a:xfrm>
          <a:prstGeom prst="rect">
            <a:avLst/>
          </a:prstGeom>
          <a:noFill/>
        </p:spPr>
        <p:txBody>
          <a:bodyPr wrap="square" lIns="0" rIns="0" tIns="0" bIns="0" anchor="t">
            <a:spAutoFit/>
          </a:bodyPr>
          <a:lstStyle/>
          <a:p>
            <a:pPr>
              <a:lnSpc>
                <a:spcPct val="106000"/>
              </a:lnSpc>
              <a:spcAft>
                <a:spcPts val="0"/>
              </a:spcAft>
              <a:defRPr sz="2600">
                <a:solidFill>
                  <a:srgbClr val="181918"/>
                </a:solidFill>
                <a:latin typeface="General Sans Medium"/>
              </a:defRPr>
            </a:pPr>
            <a:r>
              <a:t>Lovable</a:t>
            </a:r>
          </a:p>
        </p:txBody>
      </p:sp>
      <p:sp>
        <p:nvSpPr>
          <p:cNvPr id="23" name="TextBox 22"/>
          <p:cNvSpPr txBox="1"/>
          <p:nvPr/>
        </p:nvSpPr>
        <p:spPr>
          <a:xfrm>
            <a:off x="8385048" y="4937760"/>
            <a:ext cx="3227832" cy="1216152"/>
          </a:xfrm>
          <a:prstGeom prst="rect">
            <a:avLst/>
          </a:prstGeom>
          <a:noFill/>
        </p:spPr>
        <p:txBody>
          <a:bodyPr wrap="square" lIns="0" rIns="0" tIns="0" bIns="0" anchor="t">
            <a:spAutoFit/>
          </a:bodyPr>
          <a:lstStyle/>
          <a:p>
            <a:pPr>
              <a:lnSpc>
                <a:spcPct val="113000"/>
              </a:lnSpc>
              <a:spcAft>
                <a:spcPts val="0"/>
              </a:spcAft>
              <a:defRPr sz="2100">
                <a:solidFill>
                  <a:srgbClr val="181918"/>
                </a:solidFill>
                <a:latin typeface="General Sans"/>
              </a:defRPr>
            </a:pPr>
            <a:r>
              <a:t>Build in an AI editor or a browser-based app builder.</a:t>
            </a:r>
          </a:p>
        </p:txBody>
      </p:sp>
      <p:sp>
        <p:nvSpPr>
          <p:cNvPr id="24" name="TextBox 23"/>
          <p:cNvSpPr txBox="1"/>
          <p:nvPr/>
        </p:nvSpPr>
        <p:spPr>
          <a:xfrm>
            <a:off x="4489704" y="6108192"/>
            <a:ext cx="3657600" cy="274320"/>
          </a:xfrm>
          <a:prstGeom prst="rect">
            <a:avLst/>
          </a:prstGeom>
          <a:noFill/>
        </p:spPr>
        <p:txBody>
          <a:bodyPr wrap="square" lIns="0" rIns="0" tIns="0" bIns="0" anchor="t">
            <a:spAutoFit/>
          </a:bodyPr>
          <a:lstStyle/>
          <a:p>
            <a:pPr>
              <a:lnSpc>
                <a:spcPct val="106000"/>
              </a:lnSpc>
              <a:spcAft>
                <a:spcPts val="0"/>
              </a:spcAft>
              <a:defRPr sz="1200">
                <a:solidFill>
                  <a:srgbClr val="50504B"/>
                </a:solidFill>
                <a:latin typeface="General Sans"/>
              </a:defRPr>
            </a:pPr>
            <a:r>
              <a:t>Codex is today’s demo.</a:t>
            </a:r>
          </a:p>
        </p:txBody>
      </p:sp>
      <p:sp>
        <p:nvSpPr>
          <p:cNvPr id="25" name="TextBox 24"/>
          <p:cNvSpPr txBox="1"/>
          <p:nvPr/>
        </p:nvSpPr>
        <p:spPr>
          <a:xfrm>
            <a:off x="594360" y="6446520"/>
            <a:ext cx="10972800" cy="292608"/>
          </a:xfrm>
          <a:prstGeom prst="rect">
            <a:avLst/>
          </a:prstGeom>
          <a:noFill/>
        </p:spPr>
        <p:txBody>
          <a:bodyPr wrap="square" lIns="0" rIns="0" tIns="0" bIns="0" anchor="t">
            <a:spAutoFit/>
          </a:bodyPr>
          <a:lstStyle/>
          <a:p>
            <a:pPr>
              <a:lnSpc>
                <a:spcPct val="106000"/>
              </a:lnSpc>
              <a:spcAft>
                <a:spcPts val="0"/>
              </a:spcAft>
              <a:defRPr sz="1800">
                <a:solidFill>
                  <a:srgbClr val="50504B"/>
                </a:solidFill>
                <a:latin typeface="General Sans"/>
              </a:defRPr>
            </a:pPr>
            <a:r>
              <a:t>Choose a tool. Use the same two frameworks.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rm.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07</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What makes up a good prompt</a:t>
            </a:r>
          </a:p>
        </p:txBody>
      </p:sp>
      <p:sp>
        <p:nvSpPr>
          <p:cNvPr id="6" name="TextBox 5"/>
          <p:cNvSpPr txBox="1"/>
          <p:nvPr/>
        </p:nvSpPr>
        <p:spPr>
          <a:xfrm>
            <a:off x="603504" y="2258568"/>
            <a:ext cx="685800" cy="41148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01</a:t>
            </a:r>
          </a:p>
        </p:txBody>
      </p:sp>
      <p:sp>
        <p:nvSpPr>
          <p:cNvPr id="7" name="TextBox 6"/>
          <p:cNvSpPr txBox="1"/>
          <p:nvPr/>
        </p:nvSpPr>
        <p:spPr>
          <a:xfrm>
            <a:off x="1417320" y="2221992"/>
            <a:ext cx="2743200" cy="475488"/>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Medium"/>
              </a:defRPr>
            </a:pPr>
            <a:r>
              <a:t>Purpose</a:t>
            </a:r>
          </a:p>
        </p:txBody>
      </p:sp>
      <p:sp>
        <p:nvSpPr>
          <p:cNvPr id="8" name="TextBox 7"/>
          <p:cNvSpPr txBox="1"/>
          <p:nvPr/>
        </p:nvSpPr>
        <p:spPr>
          <a:xfrm>
            <a:off x="4572000" y="2267712"/>
            <a:ext cx="69494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Who is it for? What should it help them do?</a:t>
            </a:r>
          </a:p>
        </p:txBody>
      </p:sp>
      <p:sp>
        <p:nvSpPr>
          <p:cNvPr id="9" name="TextBox 8"/>
          <p:cNvSpPr txBox="1"/>
          <p:nvPr/>
        </p:nvSpPr>
        <p:spPr>
          <a:xfrm>
            <a:off x="603504" y="2953512"/>
            <a:ext cx="685800" cy="41148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02</a:t>
            </a:r>
          </a:p>
        </p:txBody>
      </p:sp>
      <p:sp>
        <p:nvSpPr>
          <p:cNvPr id="10" name="TextBox 9"/>
          <p:cNvSpPr txBox="1"/>
          <p:nvPr/>
        </p:nvSpPr>
        <p:spPr>
          <a:xfrm>
            <a:off x="1417320" y="2916936"/>
            <a:ext cx="2743200" cy="475488"/>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Medium"/>
              </a:defRPr>
            </a:pPr>
            <a:r>
              <a:t>Design</a:t>
            </a:r>
          </a:p>
        </p:txBody>
      </p:sp>
      <p:sp>
        <p:nvSpPr>
          <p:cNvPr id="11" name="TextBox 10"/>
          <p:cNvSpPr txBox="1"/>
          <p:nvPr/>
        </p:nvSpPr>
        <p:spPr>
          <a:xfrm>
            <a:off x="4572000" y="2962656"/>
            <a:ext cx="69494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What should it look and feel like?</a:t>
            </a:r>
          </a:p>
        </p:txBody>
      </p:sp>
      <p:sp>
        <p:nvSpPr>
          <p:cNvPr id="12" name="TextBox 11"/>
          <p:cNvSpPr txBox="1"/>
          <p:nvPr/>
        </p:nvSpPr>
        <p:spPr>
          <a:xfrm>
            <a:off x="603504" y="3648456"/>
            <a:ext cx="685800" cy="41148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03</a:t>
            </a:r>
          </a:p>
        </p:txBody>
      </p:sp>
      <p:sp>
        <p:nvSpPr>
          <p:cNvPr id="13" name="TextBox 12"/>
          <p:cNvSpPr txBox="1"/>
          <p:nvPr/>
        </p:nvSpPr>
        <p:spPr>
          <a:xfrm>
            <a:off x="1417320" y="3611880"/>
            <a:ext cx="2743200" cy="475488"/>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Medium"/>
              </a:defRPr>
            </a:pPr>
            <a:r>
              <a:t>Behaviour</a:t>
            </a:r>
          </a:p>
        </p:txBody>
      </p:sp>
      <p:sp>
        <p:nvSpPr>
          <p:cNvPr id="14" name="TextBox 13"/>
          <p:cNvSpPr txBox="1"/>
          <p:nvPr/>
        </p:nvSpPr>
        <p:spPr>
          <a:xfrm>
            <a:off x="4572000" y="3657600"/>
            <a:ext cx="69494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What happens when someone uses it?</a:t>
            </a:r>
          </a:p>
        </p:txBody>
      </p:sp>
      <p:sp>
        <p:nvSpPr>
          <p:cNvPr id="15" name="TextBox 14"/>
          <p:cNvSpPr txBox="1"/>
          <p:nvPr/>
        </p:nvSpPr>
        <p:spPr>
          <a:xfrm>
            <a:off x="603504" y="4343400"/>
            <a:ext cx="685800" cy="41148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04</a:t>
            </a:r>
          </a:p>
        </p:txBody>
      </p:sp>
      <p:sp>
        <p:nvSpPr>
          <p:cNvPr id="16" name="TextBox 15"/>
          <p:cNvSpPr txBox="1"/>
          <p:nvPr/>
        </p:nvSpPr>
        <p:spPr>
          <a:xfrm>
            <a:off x="1417320" y="4306824"/>
            <a:ext cx="2743200" cy="475488"/>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Medium"/>
              </a:defRPr>
            </a:pPr>
            <a:r>
              <a:t>Constraints</a:t>
            </a:r>
          </a:p>
        </p:txBody>
      </p:sp>
      <p:sp>
        <p:nvSpPr>
          <p:cNvPr id="17" name="TextBox 16"/>
          <p:cNvSpPr txBox="1"/>
          <p:nvPr/>
        </p:nvSpPr>
        <p:spPr>
          <a:xfrm>
            <a:off x="4572000" y="4352544"/>
            <a:ext cx="69494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What belongs in this first version?</a:t>
            </a:r>
          </a:p>
        </p:txBody>
      </p:sp>
      <p:sp>
        <p:nvSpPr>
          <p:cNvPr id="18" name="TextBox 17"/>
          <p:cNvSpPr txBox="1"/>
          <p:nvPr/>
        </p:nvSpPr>
        <p:spPr>
          <a:xfrm>
            <a:off x="603504" y="5038344"/>
            <a:ext cx="685800" cy="41148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05</a:t>
            </a:r>
          </a:p>
        </p:txBody>
      </p:sp>
      <p:sp>
        <p:nvSpPr>
          <p:cNvPr id="19" name="TextBox 18"/>
          <p:cNvSpPr txBox="1"/>
          <p:nvPr/>
        </p:nvSpPr>
        <p:spPr>
          <a:xfrm>
            <a:off x="1417320" y="5001768"/>
            <a:ext cx="2743200" cy="475488"/>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Medium"/>
              </a:defRPr>
            </a:pPr>
            <a:r>
              <a:t>Verify</a:t>
            </a:r>
          </a:p>
        </p:txBody>
      </p:sp>
      <p:sp>
        <p:nvSpPr>
          <p:cNvPr id="20" name="TextBox 19"/>
          <p:cNvSpPr txBox="1"/>
          <p:nvPr/>
        </p:nvSpPr>
        <p:spPr>
          <a:xfrm>
            <a:off x="4572000" y="5047488"/>
            <a:ext cx="69494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What must work for us to call it done?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08</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Prompt example</a:t>
            </a:r>
          </a:p>
        </p:txBody>
      </p:sp>
      <p:sp>
        <p:nvSpPr>
          <p:cNvPr id="6" name="TextBox 5"/>
          <p:cNvSpPr txBox="1"/>
          <p:nvPr/>
        </p:nvSpPr>
        <p:spPr>
          <a:xfrm>
            <a:off x="594360" y="1920240"/>
            <a:ext cx="10972800" cy="320040"/>
          </a:xfrm>
          <a:prstGeom prst="rect">
            <a:avLst/>
          </a:prstGeom>
          <a:noFill/>
        </p:spPr>
        <p:txBody>
          <a:bodyPr wrap="square" lIns="0" rIns="0" tIns="0" bIns="0" anchor="t">
            <a:spAutoFit/>
          </a:bodyPr>
          <a:lstStyle/>
          <a:p>
            <a:pPr>
              <a:lnSpc>
                <a:spcPct val="106000"/>
              </a:lnSpc>
              <a:spcAft>
                <a:spcPts val="0"/>
              </a:spcAft>
              <a:defRPr sz="1200">
                <a:solidFill>
                  <a:srgbClr val="50504B"/>
                </a:solidFill>
                <a:latin typeface="General Sans"/>
              </a:defRPr>
            </a:pPr>
            <a:r>
              <a:t>PRETEND CODEX CONVERSATION · TEACHING EXAMPLE</a:t>
            </a:r>
          </a:p>
        </p:txBody>
      </p:sp>
      <p:sp>
        <p:nvSpPr>
          <p:cNvPr id="7" name="Rectangle 6"/>
          <p:cNvSpPr/>
          <p:nvPr/>
        </p:nvSpPr>
        <p:spPr>
          <a:xfrm>
            <a:off x="594360" y="2267712"/>
            <a:ext cx="11000232" cy="3584448"/>
          </a:xfrm>
          <a:prstGeom prst="rect">
            <a:avLst/>
          </a:prstGeom>
          <a:solidFill>
            <a:srgbClr val="FAF9F5"/>
          </a:solidFill>
          <a:ln w="8890">
            <a:solidFill>
              <a:srgbClr val="D4D4CC"/>
            </a:solidFill>
          </a:ln>
          <a:effectLst/>
        </p:spPr>
        <p:txBody>
          <a:bodyPr rtlCol="0" anchor="ctr"/>
          <a:lstStyle/>
          <a:p>
            <a:pPr algn="ctr"/>
          </a:p>
        </p:txBody>
      </p:sp>
      <p:sp>
        <p:nvSpPr>
          <p:cNvPr id="8" name="TextBox 7"/>
          <p:cNvSpPr txBox="1"/>
          <p:nvPr/>
        </p:nvSpPr>
        <p:spPr>
          <a:xfrm>
            <a:off x="896112" y="2404872"/>
            <a:ext cx="2743200" cy="36576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Medium"/>
              </a:defRPr>
            </a:pPr>
            <a:r>
              <a:t>Codex</a:t>
            </a:r>
          </a:p>
        </p:txBody>
      </p:sp>
      <p:sp>
        <p:nvSpPr>
          <p:cNvPr id="9" name="Rectangle 8"/>
          <p:cNvSpPr/>
          <p:nvPr/>
        </p:nvSpPr>
        <p:spPr>
          <a:xfrm>
            <a:off x="896112" y="2880360"/>
            <a:ext cx="10378440" cy="8229"/>
          </a:xfrm>
          <a:prstGeom prst="rect">
            <a:avLst/>
          </a:prstGeom>
          <a:solidFill>
            <a:srgbClr val="D4D4CC"/>
          </a:solidFill>
          <a:ln>
            <a:noFill/>
          </a:ln>
          <a:effectLst/>
        </p:spPr>
        <p:txBody>
          <a:bodyPr rtlCol="0" anchor="ctr"/>
          <a:lstStyle/>
          <a:p>
            <a:pPr algn="ctr"/>
          </a:p>
        </p:txBody>
      </p:sp>
      <p:sp>
        <p:nvSpPr>
          <p:cNvPr id="10" name="TextBox 9"/>
          <p:cNvSpPr txBox="1"/>
          <p:nvPr/>
        </p:nvSpPr>
        <p:spPr>
          <a:xfrm>
            <a:off x="896112" y="2999232"/>
            <a:ext cx="1371600" cy="274320"/>
          </a:xfrm>
          <a:prstGeom prst="rect">
            <a:avLst/>
          </a:prstGeom>
          <a:noFill/>
        </p:spPr>
        <p:txBody>
          <a:bodyPr wrap="square" lIns="0" rIns="0" tIns="0" bIns="0" anchor="t">
            <a:spAutoFit/>
          </a:bodyPr>
          <a:lstStyle/>
          <a:p>
            <a:pPr>
              <a:lnSpc>
                <a:spcPct val="106000"/>
              </a:lnSpc>
              <a:spcAft>
                <a:spcPts val="0"/>
              </a:spcAft>
              <a:defRPr sz="1300">
                <a:solidFill>
                  <a:srgbClr val="181918"/>
                </a:solidFill>
                <a:latin typeface="General Sans Medium"/>
              </a:defRPr>
            </a:pPr>
            <a:r>
              <a:t>You</a:t>
            </a:r>
          </a:p>
        </p:txBody>
      </p:sp>
      <p:sp>
        <p:nvSpPr>
          <p:cNvPr id="11" name="TextBox 10"/>
          <p:cNvSpPr txBox="1"/>
          <p:nvPr/>
        </p:nvSpPr>
        <p:spPr>
          <a:xfrm>
            <a:off x="896112" y="3392424"/>
            <a:ext cx="10369296" cy="2002536"/>
          </a:xfrm>
          <a:prstGeom prst="rect">
            <a:avLst/>
          </a:prstGeom>
          <a:noFill/>
        </p:spPr>
        <p:txBody>
          <a:bodyPr wrap="square" lIns="0" rIns="0" tIns="0" bIns="0">
            <a:spAutoFit/>
          </a:bodyPr>
          <a:lstStyle/>
          <a:p>
            <a:pPr>
              <a:lnSpc>
                <a:spcPct val="132000"/>
              </a:lnSpc>
            </a:pPr>
            <a:r>
              <a:rPr sz="2400">
                <a:solidFill>
                  <a:srgbClr val="181918"/>
                </a:solidFill>
                <a:latin typeface="General Sans"/>
                <a:highlight>
                  <a:srgbClr val="EAC5BA"/>
                </a:highlight>
              </a:rPr>
              <a:t>Hey, I want to make an app that helps students find our next club event. </a:t>
            </a:r>
            <a:r>
              <a:rPr sz="2400">
                <a:solidFill>
                  <a:srgbClr val="181918"/>
                </a:solidFill>
                <a:latin typeface="General Sans"/>
                <a:highlight>
                  <a:srgbClr val="EBDFA9"/>
                </a:highlight>
              </a:rPr>
              <a:t>Make it easy to read on a phone. </a:t>
            </a:r>
            <a:r>
              <a:rPr sz="2400">
                <a:solidFill>
                  <a:srgbClr val="181918"/>
                </a:solidFill>
                <a:latin typeface="General Sans"/>
                <a:highlight>
                  <a:srgbClr val="CBDECA"/>
                </a:highlight>
              </a:rPr>
              <a:t>When I tap “View details”, show me when and where it is. </a:t>
            </a:r>
            <a:r>
              <a:rPr sz="2400">
                <a:solidFill>
                  <a:srgbClr val="181918"/>
                </a:solidFill>
                <a:latin typeface="General Sans"/>
                <a:highlight>
                  <a:srgbClr val="C5D9EB"/>
                </a:highlight>
              </a:rPr>
              <a:t>Just one page for now, with made-up details and no login. </a:t>
            </a:r>
            <a:r>
              <a:rPr sz="2400">
                <a:solidFill>
                  <a:srgbClr val="181918"/>
                </a:solidFill>
                <a:latin typeface="General Sans"/>
                <a:highlight>
                  <a:srgbClr val="DCCDEC"/>
                </a:highlight>
              </a:rPr>
              <a:t>Check that the right details appear and it works on my phone.</a:t>
            </a:r>
          </a:p>
        </p:txBody>
      </p:sp>
      <p:sp>
        <p:nvSpPr>
          <p:cNvPr id="12" name="Rectangle 11"/>
          <p:cNvSpPr/>
          <p:nvPr/>
        </p:nvSpPr>
        <p:spPr>
          <a:xfrm>
            <a:off x="896112" y="5458968"/>
            <a:ext cx="10369296" cy="283464"/>
          </a:xfrm>
          <a:prstGeom prst="rect">
            <a:avLst/>
          </a:prstGeom>
          <a:solidFill>
            <a:srgbClr val="EEEDE7"/>
          </a:solidFill>
          <a:ln>
            <a:noFill/>
          </a:ln>
          <a:effectLst/>
        </p:spPr>
        <p:txBody>
          <a:bodyPr rtlCol="0" anchor="ctr"/>
          <a:lstStyle/>
          <a:p>
            <a:pPr algn="ctr"/>
          </a:p>
        </p:txBody>
      </p:sp>
      <p:sp>
        <p:nvSpPr>
          <p:cNvPr id="13" name="TextBox 12"/>
          <p:cNvSpPr txBox="1"/>
          <p:nvPr/>
        </p:nvSpPr>
        <p:spPr>
          <a:xfrm>
            <a:off x="1024128" y="5486400"/>
            <a:ext cx="8961120" cy="219456"/>
          </a:xfrm>
          <a:prstGeom prst="rect">
            <a:avLst/>
          </a:prstGeom>
          <a:noFill/>
        </p:spPr>
        <p:txBody>
          <a:bodyPr wrap="square" lIns="0" rIns="0" tIns="0" bIns="0" anchor="t">
            <a:spAutoFit/>
          </a:bodyPr>
          <a:lstStyle/>
          <a:p>
            <a:pPr>
              <a:lnSpc>
                <a:spcPct val="106000"/>
              </a:lnSpc>
              <a:spcAft>
                <a:spcPts val="0"/>
              </a:spcAft>
              <a:defRPr sz="1200">
                <a:solidFill>
                  <a:srgbClr val="50504B"/>
                </a:solidFill>
                <a:latin typeface="General Sans"/>
              </a:defRPr>
            </a:pPr>
            <a:r>
              <a:t>Ask a follow-up…</a:t>
            </a:r>
          </a:p>
        </p:txBody>
      </p:sp>
      <p:sp>
        <p:nvSpPr>
          <p:cNvPr id="14" name="TextBox 13"/>
          <p:cNvSpPr txBox="1"/>
          <p:nvPr/>
        </p:nvSpPr>
        <p:spPr>
          <a:xfrm>
            <a:off x="10835640" y="5449824"/>
            <a:ext cx="265176" cy="274320"/>
          </a:xfrm>
          <a:prstGeom prst="rect">
            <a:avLst/>
          </a:prstGeom>
          <a:noFill/>
        </p:spPr>
        <p:txBody>
          <a:bodyPr wrap="square" lIns="0" rIns="0" tIns="0" bIns="0" anchor="t">
            <a:spAutoFit/>
          </a:bodyPr>
          <a:lstStyle/>
          <a:p>
            <a:pPr>
              <a:lnSpc>
                <a:spcPct val="106000"/>
              </a:lnSpc>
              <a:spcAft>
                <a:spcPts val="0"/>
              </a:spcAft>
              <a:defRPr sz="1600">
                <a:solidFill>
                  <a:srgbClr val="181918"/>
                </a:solidFill>
                <a:latin typeface="General Sans"/>
              </a:defRPr>
            </a:pPr>
            <a:r>
              <a:t>↑</a:t>
            </a:r>
          </a:p>
        </p:txBody>
      </p:sp>
      <p:sp>
        <p:nvSpPr>
          <p:cNvPr id="15" name="Rectangle 14"/>
          <p:cNvSpPr/>
          <p:nvPr/>
        </p:nvSpPr>
        <p:spPr>
          <a:xfrm>
            <a:off x="594360" y="6236208"/>
            <a:ext cx="201168" cy="201168"/>
          </a:xfrm>
          <a:prstGeom prst="rect">
            <a:avLst/>
          </a:prstGeom>
          <a:solidFill>
            <a:srgbClr val="EAC5BA"/>
          </a:solidFill>
          <a:ln>
            <a:noFill/>
          </a:ln>
          <a:effectLst/>
        </p:spPr>
        <p:txBody>
          <a:bodyPr rtlCol="0" anchor="ctr"/>
          <a:lstStyle/>
          <a:p>
            <a:pPr algn="ctr"/>
          </a:p>
        </p:txBody>
      </p:sp>
      <p:sp>
        <p:nvSpPr>
          <p:cNvPr id="16" name="TextBox 15"/>
          <p:cNvSpPr txBox="1"/>
          <p:nvPr/>
        </p:nvSpPr>
        <p:spPr>
          <a:xfrm>
            <a:off x="914400" y="6153912"/>
            <a:ext cx="1856231"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Purpose</a:t>
            </a:r>
          </a:p>
        </p:txBody>
      </p:sp>
      <p:sp>
        <p:nvSpPr>
          <p:cNvPr id="17" name="Rectangle 16"/>
          <p:cNvSpPr/>
          <p:nvPr/>
        </p:nvSpPr>
        <p:spPr>
          <a:xfrm>
            <a:off x="2816352" y="6236208"/>
            <a:ext cx="201168" cy="201168"/>
          </a:xfrm>
          <a:prstGeom prst="rect">
            <a:avLst/>
          </a:prstGeom>
          <a:solidFill>
            <a:srgbClr val="EBDFA9"/>
          </a:solidFill>
          <a:ln>
            <a:noFill/>
          </a:ln>
          <a:effectLst/>
        </p:spPr>
        <p:txBody>
          <a:bodyPr rtlCol="0" anchor="ctr"/>
          <a:lstStyle/>
          <a:p>
            <a:pPr algn="ctr"/>
          </a:p>
        </p:txBody>
      </p:sp>
      <p:sp>
        <p:nvSpPr>
          <p:cNvPr id="18" name="TextBox 17"/>
          <p:cNvSpPr txBox="1"/>
          <p:nvPr/>
        </p:nvSpPr>
        <p:spPr>
          <a:xfrm>
            <a:off x="3136392" y="6153912"/>
            <a:ext cx="1856231"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Design</a:t>
            </a:r>
          </a:p>
        </p:txBody>
      </p:sp>
      <p:sp>
        <p:nvSpPr>
          <p:cNvPr id="19" name="Rectangle 18"/>
          <p:cNvSpPr/>
          <p:nvPr/>
        </p:nvSpPr>
        <p:spPr>
          <a:xfrm>
            <a:off x="5038344" y="6236208"/>
            <a:ext cx="201168" cy="201168"/>
          </a:xfrm>
          <a:prstGeom prst="rect">
            <a:avLst/>
          </a:prstGeom>
          <a:solidFill>
            <a:srgbClr val="CBDECA"/>
          </a:solidFill>
          <a:ln>
            <a:noFill/>
          </a:ln>
          <a:effectLst/>
        </p:spPr>
        <p:txBody>
          <a:bodyPr rtlCol="0" anchor="ctr"/>
          <a:lstStyle/>
          <a:p>
            <a:pPr algn="ctr"/>
          </a:p>
        </p:txBody>
      </p:sp>
      <p:sp>
        <p:nvSpPr>
          <p:cNvPr id="20" name="TextBox 19"/>
          <p:cNvSpPr txBox="1"/>
          <p:nvPr/>
        </p:nvSpPr>
        <p:spPr>
          <a:xfrm>
            <a:off x="5358384" y="6153912"/>
            <a:ext cx="1856231"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Behaviour</a:t>
            </a:r>
          </a:p>
        </p:txBody>
      </p:sp>
      <p:sp>
        <p:nvSpPr>
          <p:cNvPr id="21" name="Rectangle 20"/>
          <p:cNvSpPr/>
          <p:nvPr/>
        </p:nvSpPr>
        <p:spPr>
          <a:xfrm>
            <a:off x="7260336" y="6236208"/>
            <a:ext cx="201168" cy="201168"/>
          </a:xfrm>
          <a:prstGeom prst="rect">
            <a:avLst/>
          </a:prstGeom>
          <a:solidFill>
            <a:srgbClr val="C5D9EB"/>
          </a:solidFill>
          <a:ln>
            <a:noFill/>
          </a:ln>
          <a:effectLst/>
        </p:spPr>
        <p:txBody>
          <a:bodyPr rtlCol="0" anchor="ctr"/>
          <a:lstStyle/>
          <a:p>
            <a:pPr algn="ctr"/>
          </a:p>
        </p:txBody>
      </p:sp>
      <p:sp>
        <p:nvSpPr>
          <p:cNvPr id="22" name="TextBox 21"/>
          <p:cNvSpPr txBox="1"/>
          <p:nvPr/>
        </p:nvSpPr>
        <p:spPr>
          <a:xfrm>
            <a:off x="7580376" y="6153912"/>
            <a:ext cx="1856231"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Constraints</a:t>
            </a:r>
          </a:p>
        </p:txBody>
      </p:sp>
      <p:sp>
        <p:nvSpPr>
          <p:cNvPr id="23" name="Rectangle 22"/>
          <p:cNvSpPr/>
          <p:nvPr/>
        </p:nvSpPr>
        <p:spPr>
          <a:xfrm>
            <a:off x="9482328" y="6236208"/>
            <a:ext cx="201168" cy="201168"/>
          </a:xfrm>
          <a:prstGeom prst="rect">
            <a:avLst/>
          </a:prstGeom>
          <a:solidFill>
            <a:srgbClr val="DCCDEC"/>
          </a:solidFill>
          <a:ln>
            <a:noFill/>
          </a:ln>
          <a:effectLst/>
        </p:spPr>
        <p:txBody>
          <a:bodyPr rtlCol="0" anchor="ctr"/>
          <a:lstStyle/>
          <a:p>
            <a:pPr algn="ctr"/>
          </a:p>
        </p:txBody>
      </p:sp>
      <p:sp>
        <p:nvSpPr>
          <p:cNvPr id="24" name="TextBox 23"/>
          <p:cNvSpPr txBox="1"/>
          <p:nvPr/>
        </p:nvSpPr>
        <p:spPr>
          <a:xfrm>
            <a:off x="9802368" y="6153912"/>
            <a:ext cx="1856231"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Verify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ol.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09</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How to iterate</a:t>
            </a:r>
          </a:p>
          <a:p>
            <a:pPr>
              <a:lnSpc>
                <a:spcPct val="100000"/>
              </a:lnSpc>
              <a:spcAft>
                <a:spcPts val="0"/>
              </a:spcAft>
              <a:defRPr sz="5400">
                <a:solidFill>
                  <a:srgbClr val="181918"/>
                </a:solidFill>
                <a:latin typeface="General Sans Medium"/>
              </a:defRPr>
            </a:pPr>
            <a:r>
              <a:t>and give feedback</a:t>
            </a:r>
          </a:p>
        </p:txBody>
      </p:sp>
      <p:sp>
        <p:nvSpPr>
          <p:cNvPr id="6" name="TextBox 5"/>
          <p:cNvSpPr txBox="1"/>
          <p:nvPr/>
        </p:nvSpPr>
        <p:spPr>
          <a:xfrm>
            <a:off x="594360" y="2514600"/>
            <a:ext cx="640080" cy="41148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01</a:t>
            </a:r>
          </a:p>
        </p:txBody>
      </p:sp>
      <p:sp>
        <p:nvSpPr>
          <p:cNvPr id="7" name="TextBox 6"/>
          <p:cNvSpPr txBox="1"/>
          <p:nvPr/>
        </p:nvSpPr>
        <p:spPr>
          <a:xfrm>
            <a:off x="1463040" y="2482596"/>
            <a:ext cx="3017520" cy="521207"/>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Check</a:t>
            </a:r>
          </a:p>
        </p:txBody>
      </p:sp>
      <p:sp>
        <p:nvSpPr>
          <p:cNvPr id="8" name="TextBox 7"/>
          <p:cNvSpPr txBox="1"/>
          <p:nvPr/>
        </p:nvSpPr>
        <p:spPr>
          <a:xfrm>
            <a:off x="4800600" y="2523744"/>
            <a:ext cx="6583680" cy="493776"/>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a:defRPr>
            </a:pPr>
            <a:r>
              <a:t>Try the action.</a:t>
            </a:r>
          </a:p>
        </p:txBody>
      </p:sp>
      <p:sp>
        <p:nvSpPr>
          <p:cNvPr id="9" name="TextBox 8"/>
          <p:cNvSpPr txBox="1"/>
          <p:nvPr/>
        </p:nvSpPr>
        <p:spPr>
          <a:xfrm>
            <a:off x="594360" y="3118104"/>
            <a:ext cx="640080" cy="41148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02</a:t>
            </a:r>
          </a:p>
        </p:txBody>
      </p:sp>
      <p:sp>
        <p:nvSpPr>
          <p:cNvPr id="10" name="TextBox 9"/>
          <p:cNvSpPr txBox="1"/>
          <p:nvPr/>
        </p:nvSpPr>
        <p:spPr>
          <a:xfrm>
            <a:off x="1463040" y="3086100"/>
            <a:ext cx="3017520" cy="521207"/>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Describe</a:t>
            </a:r>
          </a:p>
        </p:txBody>
      </p:sp>
      <p:sp>
        <p:nvSpPr>
          <p:cNvPr id="11" name="TextBox 10"/>
          <p:cNvSpPr txBox="1"/>
          <p:nvPr/>
        </p:nvSpPr>
        <p:spPr>
          <a:xfrm>
            <a:off x="4800600" y="3127248"/>
            <a:ext cx="6583680" cy="493776"/>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a:defRPr>
            </a:pPr>
            <a:r>
              <a:t>Explain the change.</a:t>
            </a:r>
          </a:p>
        </p:txBody>
      </p:sp>
      <p:sp>
        <p:nvSpPr>
          <p:cNvPr id="12" name="TextBox 11"/>
          <p:cNvSpPr txBox="1"/>
          <p:nvPr/>
        </p:nvSpPr>
        <p:spPr>
          <a:xfrm>
            <a:off x="594360" y="3721608"/>
            <a:ext cx="640080" cy="41148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03</a:t>
            </a:r>
          </a:p>
        </p:txBody>
      </p:sp>
      <p:sp>
        <p:nvSpPr>
          <p:cNvPr id="13" name="TextBox 12"/>
          <p:cNvSpPr txBox="1"/>
          <p:nvPr/>
        </p:nvSpPr>
        <p:spPr>
          <a:xfrm>
            <a:off x="1463040" y="3689604"/>
            <a:ext cx="3017520" cy="521207"/>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Change</a:t>
            </a:r>
          </a:p>
        </p:txBody>
      </p:sp>
      <p:sp>
        <p:nvSpPr>
          <p:cNvPr id="14" name="TextBox 13"/>
          <p:cNvSpPr txBox="1"/>
          <p:nvPr/>
        </p:nvSpPr>
        <p:spPr>
          <a:xfrm>
            <a:off x="4800600" y="3730752"/>
            <a:ext cx="6583680" cy="493776"/>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a:defRPr>
            </a:pPr>
            <a:r>
              <a:t>Let AI update it.</a:t>
            </a:r>
          </a:p>
        </p:txBody>
      </p:sp>
      <p:sp>
        <p:nvSpPr>
          <p:cNvPr id="15" name="TextBox 14"/>
          <p:cNvSpPr txBox="1"/>
          <p:nvPr/>
        </p:nvSpPr>
        <p:spPr>
          <a:xfrm>
            <a:off x="594360" y="4325112"/>
            <a:ext cx="640080" cy="41148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04</a:t>
            </a:r>
          </a:p>
        </p:txBody>
      </p:sp>
      <p:sp>
        <p:nvSpPr>
          <p:cNvPr id="16" name="TextBox 15"/>
          <p:cNvSpPr txBox="1"/>
          <p:nvPr/>
        </p:nvSpPr>
        <p:spPr>
          <a:xfrm>
            <a:off x="1463040" y="4293108"/>
            <a:ext cx="3017520" cy="521207"/>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Recheck</a:t>
            </a:r>
          </a:p>
        </p:txBody>
      </p:sp>
      <p:sp>
        <p:nvSpPr>
          <p:cNvPr id="17" name="TextBox 16"/>
          <p:cNvSpPr txBox="1"/>
          <p:nvPr/>
        </p:nvSpPr>
        <p:spPr>
          <a:xfrm>
            <a:off x="4800600" y="4334256"/>
            <a:ext cx="6583680" cy="493776"/>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a:defRPr>
            </a:pPr>
            <a:r>
              <a:t>Try it again.</a:t>
            </a:r>
          </a:p>
        </p:txBody>
      </p:sp>
      <p:sp>
        <p:nvSpPr>
          <p:cNvPr id="18" name="TextBox 17"/>
          <p:cNvSpPr txBox="1"/>
          <p:nvPr/>
        </p:nvSpPr>
        <p:spPr>
          <a:xfrm>
            <a:off x="594360" y="4928616"/>
            <a:ext cx="640080" cy="41148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05</a:t>
            </a:r>
          </a:p>
        </p:txBody>
      </p:sp>
      <p:sp>
        <p:nvSpPr>
          <p:cNvPr id="19" name="TextBox 18"/>
          <p:cNvSpPr txBox="1"/>
          <p:nvPr/>
        </p:nvSpPr>
        <p:spPr>
          <a:xfrm>
            <a:off x="1463040" y="4896612"/>
            <a:ext cx="3017520" cy="521207"/>
          </a:xfrm>
          <a:prstGeom prst="rect">
            <a:avLst/>
          </a:prstGeom>
          <a:noFill/>
        </p:spPr>
        <p:txBody>
          <a:bodyPr wrap="square" lIns="0" rIns="0" tIns="0" bIns="0" anchor="t">
            <a:spAutoFit/>
          </a:bodyPr>
          <a:lstStyle/>
          <a:p>
            <a:pPr>
              <a:lnSpc>
                <a:spcPct val="106000"/>
              </a:lnSpc>
              <a:spcAft>
                <a:spcPts val="0"/>
              </a:spcAft>
              <a:defRPr sz="2900">
                <a:solidFill>
                  <a:srgbClr val="181918"/>
                </a:solidFill>
                <a:latin typeface="General Sans Medium"/>
              </a:defRPr>
            </a:pPr>
            <a:r>
              <a:t>Save</a:t>
            </a:r>
          </a:p>
        </p:txBody>
      </p:sp>
      <p:sp>
        <p:nvSpPr>
          <p:cNvPr id="20" name="TextBox 19"/>
          <p:cNvSpPr txBox="1"/>
          <p:nvPr/>
        </p:nvSpPr>
        <p:spPr>
          <a:xfrm>
            <a:off x="4800600" y="4937760"/>
            <a:ext cx="6583680" cy="493776"/>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a:defRPr>
            </a:pPr>
            <a:r>
              <a:t>Keep what works.</a:t>
            </a:r>
          </a:p>
        </p:txBody>
      </p:sp>
      <p:sp>
        <p:nvSpPr>
          <p:cNvPr id="21" name="Rectangle 20"/>
          <p:cNvSpPr/>
          <p:nvPr/>
        </p:nvSpPr>
        <p:spPr>
          <a:xfrm>
            <a:off x="594360" y="5806440"/>
            <a:ext cx="10972800" cy="8229"/>
          </a:xfrm>
          <a:prstGeom prst="rect">
            <a:avLst/>
          </a:prstGeom>
          <a:solidFill>
            <a:srgbClr val="78909D"/>
          </a:solidFill>
          <a:ln>
            <a:noFill/>
          </a:ln>
          <a:effectLst/>
        </p:spPr>
        <p:txBody>
          <a:bodyPr rtlCol="0" anchor="ctr"/>
          <a:lstStyle/>
          <a:p>
            <a:pPr algn="ctr"/>
          </a:p>
        </p:txBody>
      </p:sp>
      <p:sp>
        <p:nvSpPr>
          <p:cNvPr id="22" name="TextBox 21"/>
          <p:cNvSpPr txBox="1"/>
          <p:nvPr/>
        </p:nvSpPr>
        <p:spPr>
          <a:xfrm>
            <a:off x="594360" y="6071616"/>
            <a:ext cx="10972800" cy="457200"/>
          </a:xfrm>
          <a:prstGeom prst="rect">
            <a:avLst/>
          </a:prstGeom>
          <a:noFill/>
        </p:spPr>
        <p:txBody>
          <a:bodyPr wrap="square" lIns="0" rIns="0" tIns="0" bIns="0" anchor="t">
            <a:spAutoFit/>
          </a:bodyPr>
          <a:lstStyle/>
          <a:p>
            <a:pPr>
              <a:lnSpc>
                <a:spcPct val="106000"/>
              </a:lnSpc>
              <a:spcAft>
                <a:spcPts val="0"/>
              </a:spcAft>
              <a:defRPr sz="2200">
                <a:solidFill>
                  <a:srgbClr val="181918"/>
                </a:solidFill>
                <a:latin typeface="General Sans"/>
              </a:defRPr>
            </a:pPr>
            <a:r>
              <a:t>Checkpoint = a saved working version.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un.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10</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How to give feedback</a:t>
            </a:r>
          </a:p>
        </p:txBody>
      </p:sp>
      <p:sp>
        <p:nvSpPr>
          <p:cNvPr id="6" name="TextBox 5"/>
          <p:cNvSpPr txBox="1"/>
          <p:nvPr/>
        </p:nvSpPr>
        <p:spPr>
          <a:xfrm>
            <a:off x="594360" y="2386584"/>
            <a:ext cx="32918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Medium"/>
              </a:defRPr>
            </a:pPr>
            <a:r>
              <a:t>What happened</a:t>
            </a:r>
          </a:p>
        </p:txBody>
      </p:sp>
      <p:sp>
        <p:nvSpPr>
          <p:cNvPr id="7" name="TextBox 6"/>
          <p:cNvSpPr txBox="1"/>
          <p:nvPr/>
        </p:nvSpPr>
        <p:spPr>
          <a:xfrm>
            <a:off x="4389120" y="2359152"/>
            <a:ext cx="7178040" cy="649224"/>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a:defRPr>
            </a:pPr>
            <a:r>
              <a:t>“View details” does nothing.</a:t>
            </a:r>
          </a:p>
        </p:txBody>
      </p:sp>
      <p:sp>
        <p:nvSpPr>
          <p:cNvPr id="8" name="TextBox 7"/>
          <p:cNvSpPr txBox="1"/>
          <p:nvPr/>
        </p:nvSpPr>
        <p:spPr>
          <a:xfrm>
            <a:off x="594360" y="3108960"/>
            <a:ext cx="32918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Medium"/>
              </a:defRPr>
            </a:pPr>
            <a:r>
              <a:t>What I expected</a:t>
            </a:r>
          </a:p>
        </p:txBody>
      </p:sp>
      <p:sp>
        <p:nvSpPr>
          <p:cNvPr id="9" name="TextBox 8"/>
          <p:cNvSpPr txBox="1"/>
          <p:nvPr/>
        </p:nvSpPr>
        <p:spPr>
          <a:xfrm>
            <a:off x="4389120" y="3081528"/>
            <a:ext cx="7178040" cy="649224"/>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a:defRPr>
            </a:pPr>
            <a:r>
              <a:t>Show the event time and location.</a:t>
            </a:r>
          </a:p>
        </p:txBody>
      </p:sp>
      <p:sp>
        <p:nvSpPr>
          <p:cNvPr id="10" name="TextBox 9"/>
          <p:cNvSpPr txBox="1"/>
          <p:nvPr/>
        </p:nvSpPr>
        <p:spPr>
          <a:xfrm>
            <a:off x="594360" y="3831335"/>
            <a:ext cx="32918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Medium"/>
              </a:defRPr>
            </a:pPr>
            <a:r>
              <a:t>What to keep</a:t>
            </a:r>
          </a:p>
        </p:txBody>
      </p:sp>
      <p:sp>
        <p:nvSpPr>
          <p:cNvPr id="11" name="TextBox 10"/>
          <p:cNvSpPr txBox="1"/>
          <p:nvPr/>
        </p:nvSpPr>
        <p:spPr>
          <a:xfrm>
            <a:off x="4389120" y="3803903"/>
            <a:ext cx="7178040" cy="649224"/>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a:defRPr>
            </a:pPr>
            <a:r>
              <a:t>Keep the current page design.</a:t>
            </a:r>
          </a:p>
        </p:txBody>
      </p:sp>
      <p:sp>
        <p:nvSpPr>
          <p:cNvPr id="12" name="TextBox 11"/>
          <p:cNvSpPr txBox="1"/>
          <p:nvPr/>
        </p:nvSpPr>
        <p:spPr>
          <a:xfrm>
            <a:off x="594360" y="4553712"/>
            <a:ext cx="3291840" cy="45720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Medium"/>
              </a:defRPr>
            </a:pPr>
            <a:r>
              <a:t>How to check</a:t>
            </a:r>
          </a:p>
        </p:txBody>
      </p:sp>
      <p:sp>
        <p:nvSpPr>
          <p:cNvPr id="13" name="TextBox 12"/>
          <p:cNvSpPr txBox="1"/>
          <p:nvPr/>
        </p:nvSpPr>
        <p:spPr>
          <a:xfrm>
            <a:off x="4389120" y="4526280"/>
            <a:ext cx="7178040" cy="649224"/>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a:defRPr>
            </a:pPr>
            <a:r>
              <a:t>Click the button and check the details.</a:t>
            </a:r>
          </a:p>
        </p:txBody>
      </p:sp>
      <p:sp>
        <p:nvSpPr>
          <p:cNvPr id="14" name="TextBox 13"/>
          <p:cNvSpPr txBox="1"/>
          <p:nvPr/>
        </p:nvSpPr>
        <p:spPr>
          <a:xfrm>
            <a:off x="594360" y="6025896"/>
            <a:ext cx="10972800" cy="457200"/>
          </a:xfrm>
          <a:prstGeom prst="rect">
            <a:avLst/>
          </a:prstGeom>
          <a:noFill/>
        </p:spPr>
        <p:txBody>
          <a:bodyPr wrap="square" lIns="0" rIns="0" tIns="0" bIns="0" anchor="t">
            <a:spAutoFit/>
          </a:bodyPr>
          <a:lstStyle/>
          <a:p>
            <a:pPr>
              <a:lnSpc>
                <a:spcPct val="106000"/>
              </a:lnSpc>
              <a:spcAft>
                <a:spcPts val="0"/>
              </a:spcAft>
              <a:defRPr sz="2200">
                <a:solidFill>
                  <a:srgbClr val="181918"/>
                </a:solidFill>
                <a:latin typeface="General Sans"/>
              </a:defRPr>
            </a:pPr>
            <a:r>
              <a:t>Then recheck the result yourself.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11</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Feedback example</a:t>
            </a:r>
          </a:p>
        </p:txBody>
      </p:sp>
      <p:sp>
        <p:nvSpPr>
          <p:cNvPr id="6" name="TextBox 5"/>
          <p:cNvSpPr txBox="1"/>
          <p:nvPr/>
        </p:nvSpPr>
        <p:spPr>
          <a:xfrm>
            <a:off x="594360" y="1920240"/>
            <a:ext cx="10972800" cy="320040"/>
          </a:xfrm>
          <a:prstGeom prst="rect">
            <a:avLst/>
          </a:prstGeom>
          <a:noFill/>
        </p:spPr>
        <p:txBody>
          <a:bodyPr wrap="square" lIns="0" rIns="0" tIns="0" bIns="0" anchor="t">
            <a:spAutoFit/>
          </a:bodyPr>
          <a:lstStyle/>
          <a:p>
            <a:pPr>
              <a:lnSpc>
                <a:spcPct val="106000"/>
              </a:lnSpc>
              <a:spcAft>
                <a:spcPts val="0"/>
              </a:spcAft>
              <a:defRPr sz="1200">
                <a:solidFill>
                  <a:srgbClr val="50504B"/>
                </a:solidFill>
                <a:latin typeface="General Sans"/>
              </a:defRPr>
            </a:pPr>
            <a:r>
              <a:t>PRETEND CODEX CONVERSATION · TEACHING EXAMPLE</a:t>
            </a:r>
          </a:p>
        </p:txBody>
      </p:sp>
      <p:sp>
        <p:nvSpPr>
          <p:cNvPr id="7" name="Rectangle 6"/>
          <p:cNvSpPr/>
          <p:nvPr/>
        </p:nvSpPr>
        <p:spPr>
          <a:xfrm>
            <a:off x="594360" y="2267712"/>
            <a:ext cx="11000232" cy="3584448"/>
          </a:xfrm>
          <a:prstGeom prst="rect">
            <a:avLst/>
          </a:prstGeom>
          <a:solidFill>
            <a:srgbClr val="FAF9F5"/>
          </a:solidFill>
          <a:ln w="8890">
            <a:solidFill>
              <a:srgbClr val="D4D4CC"/>
            </a:solidFill>
          </a:ln>
          <a:effectLst/>
        </p:spPr>
        <p:txBody>
          <a:bodyPr rtlCol="0" anchor="ctr"/>
          <a:lstStyle/>
          <a:p>
            <a:pPr algn="ctr"/>
          </a:p>
        </p:txBody>
      </p:sp>
      <p:sp>
        <p:nvSpPr>
          <p:cNvPr id="8" name="TextBox 7"/>
          <p:cNvSpPr txBox="1"/>
          <p:nvPr/>
        </p:nvSpPr>
        <p:spPr>
          <a:xfrm>
            <a:off x="896112" y="2404872"/>
            <a:ext cx="2743200" cy="365760"/>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Medium"/>
              </a:defRPr>
            </a:pPr>
            <a:r>
              <a:t>Codex</a:t>
            </a:r>
          </a:p>
        </p:txBody>
      </p:sp>
      <p:sp>
        <p:nvSpPr>
          <p:cNvPr id="9" name="Rectangle 8"/>
          <p:cNvSpPr/>
          <p:nvPr/>
        </p:nvSpPr>
        <p:spPr>
          <a:xfrm>
            <a:off x="896112" y="2880360"/>
            <a:ext cx="10378440" cy="8229"/>
          </a:xfrm>
          <a:prstGeom prst="rect">
            <a:avLst/>
          </a:prstGeom>
          <a:solidFill>
            <a:srgbClr val="D4D4CC"/>
          </a:solidFill>
          <a:ln>
            <a:noFill/>
          </a:ln>
          <a:effectLst/>
        </p:spPr>
        <p:txBody>
          <a:bodyPr rtlCol="0" anchor="ctr"/>
          <a:lstStyle/>
          <a:p>
            <a:pPr algn="ctr"/>
          </a:p>
        </p:txBody>
      </p:sp>
      <p:sp>
        <p:nvSpPr>
          <p:cNvPr id="10" name="TextBox 9"/>
          <p:cNvSpPr txBox="1"/>
          <p:nvPr/>
        </p:nvSpPr>
        <p:spPr>
          <a:xfrm>
            <a:off x="896112" y="2999232"/>
            <a:ext cx="1371600" cy="274320"/>
          </a:xfrm>
          <a:prstGeom prst="rect">
            <a:avLst/>
          </a:prstGeom>
          <a:noFill/>
        </p:spPr>
        <p:txBody>
          <a:bodyPr wrap="square" lIns="0" rIns="0" tIns="0" bIns="0" anchor="t">
            <a:spAutoFit/>
          </a:bodyPr>
          <a:lstStyle/>
          <a:p>
            <a:pPr>
              <a:lnSpc>
                <a:spcPct val="106000"/>
              </a:lnSpc>
              <a:spcAft>
                <a:spcPts val="0"/>
              </a:spcAft>
              <a:defRPr sz="1300">
                <a:solidFill>
                  <a:srgbClr val="181918"/>
                </a:solidFill>
                <a:latin typeface="General Sans Medium"/>
              </a:defRPr>
            </a:pPr>
            <a:r>
              <a:t>You</a:t>
            </a:r>
          </a:p>
        </p:txBody>
      </p:sp>
      <p:sp>
        <p:nvSpPr>
          <p:cNvPr id="11" name="TextBox 10"/>
          <p:cNvSpPr txBox="1"/>
          <p:nvPr/>
        </p:nvSpPr>
        <p:spPr>
          <a:xfrm>
            <a:off x="896112" y="3392424"/>
            <a:ext cx="10369296" cy="2002536"/>
          </a:xfrm>
          <a:prstGeom prst="rect">
            <a:avLst/>
          </a:prstGeom>
          <a:noFill/>
        </p:spPr>
        <p:txBody>
          <a:bodyPr wrap="square" lIns="0" rIns="0" tIns="0" bIns="0">
            <a:spAutoFit/>
          </a:bodyPr>
          <a:lstStyle/>
          <a:p>
            <a:pPr>
              <a:lnSpc>
                <a:spcPct val="132000"/>
              </a:lnSpc>
            </a:pPr>
            <a:r>
              <a:rPr sz="2400">
                <a:solidFill>
                  <a:srgbClr val="181918"/>
                </a:solidFill>
                <a:latin typeface="General Sans"/>
                <a:highlight>
                  <a:srgbClr val="EAC5BA"/>
                </a:highlight>
              </a:rPr>
              <a:t>Hey, I tapped “View details” but nothing happened. </a:t>
            </a:r>
            <a:r>
              <a:rPr sz="2400">
                <a:solidFill>
                  <a:srgbClr val="181918"/>
                </a:solidFill>
                <a:latin typeface="General Sans"/>
                <a:highlight>
                  <a:srgbClr val="EBDFA9"/>
                </a:highlight>
              </a:rPr>
              <a:t>I expected it to show the event time and location. </a:t>
            </a:r>
            <a:r>
              <a:rPr sz="2400">
                <a:solidFill>
                  <a:srgbClr val="181918"/>
                </a:solidFill>
                <a:latin typeface="General Sans"/>
                <a:highlight>
                  <a:srgbClr val="C5D9EB"/>
                </a:highlight>
              </a:rPr>
              <a:t>Please fix that but keep the page looking the same. </a:t>
            </a:r>
            <a:r>
              <a:rPr sz="2400">
                <a:solidFill>
                  <a:srgbClr val="181918"/>
                </a:solidFill>
                <a:latin typeface="General Sans"/>
                <a:highlight>
                  <a:srgbClr val="DCCDEC"/>
                </a:highlight>
              </a:rPr>
              <a:t>Then try the button and check that the correct details show up.</a:t>
            </a:r>
          </a:p>
        </p:txBody>
      </p:sp>
      <p:sp>
        <p:nvSpPr>
          <p:cNvPr id="12" name="Rectangle 11"/>
          <p:cNvSpPr/>
          <p:nvPr/>
        </p:nvSpPr>
        <p:spPr>
          <a:xfrm>
            <a:off x="896112" y="5458968"/>
            <a:ext cx="10369296" cy="283464"/>
          </a:xfrm>
          <a:prstGeom prst="rect">
            <a:avLst/>
          </a:prstGeom>
          <a:solidFill>
            <a:srgbClr val="EEEDE7"/>
          </a:solidFill>
          <a:ln>
            <a:noFill/>
          </a:ln>
          <a:effectLst/>
        </p:spPr>
        <p:txBody>
          <a:bodyPr rtlCol="0" anchor="ctr"/>
          <a:lstStyle/>
          <a:p>
            <a:pPr algn="ctr"/>
          </a:p>
        </p:txBody>
      </p:sp>
      <p:sp>
        <p:nvSpPr>
          <p:cNvPr id="13" name="TextBox 12"/>
          <p:cNvSpPr txBox="1"/>
          <p:nvPr/>
        </p:nvSpPr>
        <p:spPr>
          <a:xfrm>
            <a:off x="1024128" y="5486400"/>
            <a:ext cx="8961120" cy="219456"/>
          </a:xfrm>
          <a:prstGeom prst="rect">
            <a:avLst/>
          </a:prstGeom>
          <a:noFill/>
        </p:spPr>
        <p:txBody>
          <a:bodyPr wrap="square" lIns="0" rIns="0" tIns="0" bIns="0" anchor="t">
            <a:spAutoFit/>
          </a:bodyPr>
          <a:lstStyle/>
          <a:p>
            <a:pPr>
              <a:lnSpc>
                <a:spcPct val="106000"/>
              </a:lnSpc>
              <a:spcAft>
                <a:spcPts val="0"/>
              </a:spcAft>
              <a:defRPr sz="1200">
                <a:solidFill>
                  <a:srgbClr val="50504B"/>
                </a:solidFill>
                <a:latin typeface="General Sans"/>
              </a:defRPr>
            </a:pPr>
            <a:r>
              <a:t>Ask a follow-up…</a:t>
            </a:r>
          </a:p>
        </p:txBody>
      </p:sp>
      <p:sp>
        <p:nvSpPr>
          <p:cNvPr id="14" name="TextBox 13"/>
          <p:cNvSpPr txBox="1"/>
          <p:nvPr/>
        </p:nvSpPr>
        <p:spPr>
          <a:xfrm>
            <a:off x="10835640" y="5449824"/>
            <a:ext cx="265176" cy="274320"/>
          </a:xfrm>
          <a:prstGeom prst="rect">
            <a:avLst/>
          </a:prstGeom>
          <a:noFill/>
        </p:spPr>
        <p:txBody>
          <a:bodyPr wrap="square" lIns="0" rIns="0" tIns="0" bIns="0" anchor="t">
            <a:spAutoFit/>
          </a:bodyPr>
          <a:lstStyle/>
          <a:p>
            <a:pPr>
              <a:lnSpc>
                <a:spcPct val="106000"/>
              </a:lnSpc>
              <a:spcAft>
                <a:spcPts val="0"/>
              </a:spcAft>
              <a:defRPr sz="1600">
                <a:solidFill>
                  <a:srgbClr val="181918"/>
                </a:solidFill>
                <a:latin typeface="General Sans"/>
              </a:defRPr>
            </a:pPr>
            <a:r>
              <a:t>↑</a:t>
            </a:r>
          </a:p>
        </p:txBody>
      </p:sp>
      <p:sp>
        <p:nvSpPr>
          <p:cNvPr id="15" name="Rectangle 14"/>
          <p:cNvSpPr/>
          <p:nvPr/>
        </p:nvSpPr>
        <p:spPr>
          <a:xfrm>
            <a:off x="594360" y="6236208"/>
            <a:ext cx="201168" cy="201168"/>
          </a:xfrm>
          <a:prstGeom prst="rect">
            <a:avLst/>
          </a:prstGeom>
          <a:solidFill>
            <a:srgbClr val="EAC5BA"/>
          </a:solidFill>
          <a:ln>
            <a:noFill/>
          </a:ln>
          <a:effectLst/>
        </p:spPr>
        <p:txBody>
          <a:bodyPr rtlCol="0" anchor="ctr"/>
          <a:lstStyle/>
          <a:p>
            <a:pPr algn="ctr"/>
          </a:p>
        </p:txBody>
      </p:sp>
      <p:sp>
        <p:nvSpPr>
          <p:cNvPr id="16" name="TextBox 15"/>
          <p:cNvSpPr txBox="1"/>
          <p:nvPr/>
        </p:nvSpPr>
        <p:spPr>
          <a:xfrm>
            <a:off x="914400" y="6153912"/>
            <a:ext cx="2441448"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What happened</a:t>
            </a:r>
          </a:p>
        </p:txBody>
      </p:sp>
      <p:sp>
        <p:nvSpPr>
          <p:cNvPr id="17" name="Rectangle 16"/>
          <p:cNvSpPr/>
          <p:nvPr/>
        </p:nvSpPr>
        <p:spPr>
          <a:xfrm>
            <a:off x="3419856" y="6236208"/>
            <a:ext cx="201168" cy="201168"/>
          </a:xfrm>
          <a:prstGeom prst="rect">
            <a:avLst/>
          </a:prstGeom>
          <a:solidFill>
            <a:srgbClr val="EBDFA9"/>
          </a:solidFill>
          <a:ln>
            <a:noFill/>
          </a:ln>
          <a:effectLst/>
        </p:spPr>
        <p:txBody>
          <a:bodyPr rtlCol="0" anchor="ctr"/>
          <a:lstStyle/>
          <a:p>
            <a:pPr algn="ctr"/>
          </a:p>
        </p:txBody>
      </p:sp>
      <p:sp>
        <p:nvSpPr>
          <p:cNvPr id="18" name="TextBox 17"/>
          <p:cNvSpPr txBox="1"/>
          <p:nvPr/>
        </p:nvSpPr>
        <p:spPr>
          <a:xfrm>
            <a:off x="3739896" y="6153912"/>
            <a:ext cx="2441448"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Expected</a:t>
            </a:r>
          </a:p>
        </p:txBody>
      </p:sp>
      <p:sp>
        <p:nvSpPr>
          <p:cNvPr id="19" name="Rectangle 18"/>
          <p:cNvSpPr/>
          <p:nvPr/>
        </p:nvSpPr>
        <p:spPr>
          <a:xfrm>
            <a:off x="6245352" y="6236208"/>
            <a:ext cx="201168" cy="201168"/>
          </a:xfrm>
          <a:prstGeom prst="rect">
            <a:avLst/>
          </a:prstGeom>
          <a:solidFill>
            <a:srgbClr val="C5D9EB"/>
          </a:solidFill>
          <a:ln>
            <a:noFill/>
          </a:ln>
          <a:effectLst/>
        </p:spPr>
        <p:txBody>
          <a:bodyPr rtlCol="0" anchor="ctr"/>
          <a:lstStyle/>
          <a:p>
            <a:pPr algn="ctr"/>
          </a:p>
        </p:txBody>
      </p:sp>
      <p:sp>
        <p:nvSpPr>
          <p:cNvPr id="20" name="TextBox 19"/>
          <p:cNvSpPr txBox="1"/>
          <p:nvPr/>
        </p:nvSpPr>
        <p:spPr>
          <a:xfrm>
            <a:off x="6565392" y="6153912"/>
            <a:ext cx="2441448"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Keep</a:t>
            </a:r>
          </a:p>
        </p:txBody>
      </p:sp>
      <p:sp>
        <p:nvSpPr>
          <p:cNvPr id="21" name="Rectangle 20"/>
          <p:cNvSpPr/>
          <p:nvPr/>
        </p:nvSpPr>
        <p:spPr>
          <a:xfrm>
            <a:off x="9070848" y="6236208"/>
            <a:ext cx="201168" cy="201168"/>
          </a:xfrm>
          <a:prstGeom prst="rect">
            <a:avLst/>
          </a:prstGeom>
          <a:solidFill>
            <a:srgbClr val="DCCDEC"/>
          </a:solidFill>
          <a:ln>
            <a:noFill/>
          </a:ln>
          <a:effectLst/>
        </p:spPr>
        <p:txBody>
          <a:bodyPr rtlCol="0" anchor="ctr"/>
          <a:lstStyle/>
          <a:p>
            <a:pPr algn="ctr"/>
          </a:p>
        </p:txBody>
      </p:sp>
      <p:sp>
        <p:nvSpPr>
          <p:cNvPr id="22" name="TextBox 21"/>
          <p:cNvSpPr txBox="1"/>
          <p:nvPr/>
        </p:nvSpPr>
        <p:spPr>
          <a:xfrm>
            <a:off x="9390888" y="6153912"/>
            <a:ext cx="2441448" cy="466344"/>
          </a:xfrm>
          <a:prstGeom prst="rect">
            <a:avLst/>
          </a:prstGeom>
          <a:noFill/>
        </p:spPr>
        <p:txBody>
          <a:bodyPr wrap="square" lIns="0" rIns="0" tIns="0" bIns="0" anchor="t">
            <a:spAutoFit/>
          </a:bodyPr>
          <a:lstStyle/>
          <a:p>
            <a:pPr>
              <a:lnSpc>
                <a:spcPct val="106000"/>
              </a:lnSpc>
              <a:spcAft>
                <a:spcPts val="0"/>
              </a:spcAft>
              <a:defRPr sz="1900">
                <a:solidFill>
                  <a:srgbClr val="181918"/>
                </a:solidFill>
                <a:latin typeface="General Sans"/>
              </a:defRPr>
            </a:pPr>
            <a:r>
              <a:t>Check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ol.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12</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Review the demo</a:t>
            </a:r>
          </a:p>
        </p:txBody>
      </p:sp>
      <p:sp>
        <p:nvSpPr>
          <p:cNvPr id="6" name="TextBox 5"/>
          <p:cNvSpPr txBox="1"/>
          <p:nvPr/>
        </p:nvSpPr>
        <p:spPr>
          <a:xfrm>
            <a:off x="594360" y="4014215"/>
            <a:ext cx="10972800" cy="1554480"/>
          </a:xfrm>
          <a:prstGeom prst="rect">
            <a:avLst/>
          </a:prstGeom>
          <a:noFill/>
        </p:spPr>
        <p:txBody>
          <a:bodyPr wrap="square" lIns="0" rIns="0" tIns="0" bIns="0" anchor="t">
            <a:spAutoFit/>
          </a:bodyPr>
          <a:lstStyle/>
          <a:p>
            <a:pPr>
              <a:lnSpc>
                <a:spcPct val="120000"/>
              </a:lnSpc>
              <a:spcAft>
                <a:spcPts val="0"/>
              </a:spcAft>
              <a:defRPr sz="3500">
                <a:solidFill>
                  <a:srgbClr val="181918"/>
                </a:solidFill>
                <a:latin typeface="General Sans"/>
              </a:defRPr>
            </a:pPr>
            <a:r>
              <a:t>What did we ask for?</a:t>
            </a:r>
          </a:p>
          <a:p>
            <a:pPr>
              <a:lnSpc>
                <a:spcPct val="120000"/>
              </a:lnSpc>
              <a:spcAft>
                <a:spcPts val="0"/>
              </a:spcAft>
              <a:defRPr sz="3500">
                <a:solidFill>
                  <a:srgbClr val="181918"/>
                </a:solidFill>
                <a:latin typeface="General Sans"/>
              </a:defRPr>
            </a:pPr>
            <a:r>
              <a:t>What did we get?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13</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Check the result</a:t>
            </a:r>
          </a:p>
        </p:txBody>
      </p:sp>
      <p:sp>
        <p:nvSpPr>
          <p:cNvPr id="6" name="TextBox 5"/>
          <p:cNvSpPr txBox="1"/>
          <p:nvPr/>
        </p:nvSpPr>
        <p:spPr>
          <a:xfrm>
            <a:off x="594360" y="2267712"/>
            <a:ext cx="640080" cy="365760"/>
          </a:xfrm>
          <a:prstGeom prst="rect">
            <a:avLst/>
          </a:prstGeom>
          <a:noFill/>
        </p:spPr>
        <p:txBody>
          <a:bodyPr wrap="square" lIns="0" rIns="0" tIns="0" bIns="0" anchor="t">
            <a:spAutoFit/>
          </a:bodyPr>
          <a:lstStyle/>
          <a:p>
            <a:pPr>
              <a:lnSpc>
                <a:spcPct val="106000"/>
              </a:lnSpc>
              <a:spcAft>
                <a:spcPts val="0"/>
              </a:spcAft>
              <a:defRPr sz="1700">
                <a:solidFill>
                  <a:srgbClr val="50504B"/>
                </a:solidFill>
                <a:latin typeface="General Sans"/>
              </a:defRPr>
            </a:pPr>
            <a:r>
              <a:t>01</a:t>
            </a:r>
          </a:p>
        </p:txBody>
      </p:sp>
      <p:sp>
        <p:nvSpPr>
          <p:cNvPr id="7" name="TextBox 6"/>
          <p:cNvSpPr txBox="1"/>
          <p:nvPr/>
        </p:nvSpPr>
        <p:spPr>
          <a:xfrm>
            <a:off x="1389888" y="2231136"/>
            <a:ext cx="4297680" cy="676656"/>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Medium"/>
              </a:defRPr>
            </a:pPr>
            <a:r>
              <a:t>The main action</a:t>
            </a:r>
          </a:p>
        </p:txBody>
      </p:sp>
      <p:sp>
        <p:nvSpPr>
          <p:cNvPr id="8" name="TextBox 7"/>
          <p:cNvSpPr txBox="1"/>
          <p:nvPr/>
        </p:nvSpPr>
        <p:spPr>
          <a:xfrm>
            <a:off x="5824728" y="2295144"/>
            <a:ext cx="5577840" cy="822960"/>
          </a:xfrm>
          <a:prstGeom prst="rect">
            <a:avLst/>
          </a:prstGeom>
          <a:noFill/>
        </p:spPr>
        <p:txBody>
          <a:bodyPr wrap="square" lIns="0" rIns="0" tIns="0" bIns="0" anchor="t">
            <a:spAutoFit/>
          </a:bodyPr>
          <a:lstStyle/>
          <a:p>
            <a:pPr>
              <a:lnSpc>
                <a:spcPct val="106000"/>
              </a:lnSpc>
              <a:spcAft>
                <a:spcPts val="0"/>
              </a:spcAft>
              <a:defRPr sz="2300">
                <a:solidFill>
                  <a:srgbClr val="181918"/>
                </a:solidFill>
                <a:latin typeface="General Sans"/>
              </a:defRPr>
            </a:pPr>
            <a:r>
              <a:t>Does the button or action actually work?</a:t>
            </a:r>
          </a:p>
        </p:txBody>
      </p:sp>
      <p:sp>
        <p:nvSpPr>
          <p:cNvPr id="9" name="TextBox 8"/>
          <p:cNvSpPr txBox="1"/>
          <p:nvPr/>
        </p:nvSpPr>
        <p:spPr>
          <a:xfrm>
            <a:off x="594360" y="3218688"/>
            <a:ext cx="640080" cy="365760"/>
          </a:xfrm>
          <a:prstGeom prst="rect">
            <a:avLst/>
          </a:prstGeom>
          <a:noFill/>
        </p:spPr>
        <p:txBody>
          <a:bodyPr wrap="square" lIns="0" rIns="0" tIns="0" bIns="0" anchor="t">
            <a:spAutoFit/>
          </a:bodyPr>
          <a:lstStyle/>
          <a:p>
            <a:pPr>
              <a:lnSpc>
                <a:spcPct val="106000"/>
              </a:lnSpc>
              <a:spcAft>
                <a:spcPts val="0"/>
              </a:spcAft>
              <a:defRPr sz="1700">
                <a:solidFill>
                  <a:srgbClr val="50504B"/>
                </a:solidFill>
                <a:latin typeface="General Sans"/>
              </a:defRPr>
            </a:pPr>
            <a:r>
              <a:t>02</a:t>
            </a:r>
          </a:p>
        </p:txBody>
      </p:sp>
      <p:sp>
        <p:nvSpPr>
          <p:cNvPr id="10" name="TextBox 9"/>
          <p:cNvSpPr txBox="1"/>
          <p:nvPr/>
        </p:nvSpPr>
        <p:spPr>
          <a:xfrm>
            <a:off x="1389888" y="3182112"/>
            <a:ext cx="4297680" cy="676656"/>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Medium"/>
              </a:defRPr>
            </a:pPr>
            <a:r>
              <a:t>Missing or wrong input</a:t>
            </a:r>
          </a:p>
        </p:txBody>
      </p:sp>
      <p:sp>
        <p:nvSpPr>
          <p:cNvPr id="11" name="TextBox 10"/>
          <p:cNvSpPr txBox="1"/>
          <p:nvPr/>
        </p:nvSpPr>
        <p:spPr>
          <a:xfrm>
            <a:off x="5824728" y="3246120"/>
            <a:ext cx="5577840" cy="822960"/>
          </a:xfrm>
          <a:prstGeom prst="rect">
            <a:avLst/>
          </a:prstGeom>
          <a:noFill/>
        </p:spPr>
        <p:txBody>
          <a:bodyPr wrap="square" lIns="0" rIns="0" tIns="0" bIns="0" anchor="t">
            <a:spAutoFit/>
          </a:bodyPr>
          <a:lstStyle/>
          <a:p>
            <a:pPr>
              <a:lnSpc>
                <a:spcPct val="106000"/>
              </a:lnSpc>
              <a:spcAft>
                <a:spcPts val="0"/>
              </a:spcAft>
              <a:defRPr sz="2300">
                <a:solidFill>
                  <a:srgbClr val="181918"/>
                </a:solidFill>
                <a:latin typeface="General Sans"/>
              </a:defRPr>
            </a:pPr>
            <a:r>
              <a:t>What happens if a field is empty?</a:t>
            </a:r>
          </a:p>
        </p:txBody>
      </p:sp>
      <p:sp>
        <p:nvSpPr>
          <p:cNvPr id="12" name="TextBox 11"/>
          <p:cNvSpPr txBox="1"/>
          <p:nvPr/>
        </p:nvSpPr>
        <p:spPr>
          <a:xfrm>
            <a:off x="594360" y="4169664"/>
            <a:ext cx="640080" cy="365760"/>
          </a:xfrm>
          <a:prstGeom prst="rect">
            <a:avLst/>
          </a:prstGeom>
          <a:noFill/>
        </p:spPr>
        <p:txBody>
          <a:bodyPr wrap="square" lIns="0" rIns="0" tIns="0" bIns="0" anchor="t">
            <a:spAutoFit/>
          </a:bodyPr>
          <a:lstStyle/>
          <a:p>
            <a:pPr>
              <a:lnSpc>
                <a:spcPct val="106000"/>
              </a:lnSpc>
              <a:spcAft>
                <a:spcPts val="0"/>
              </a:spcAft>
              <a:defRPr sz="1700">
                <a:solidFill>
                  <a:srgbClr val="50504B"/>
                </a:solidFill>
                <a:latin typeface="General Sans"/>
              </a:defRPr>
            </a:pPr>
            <a:r>
              <a:t>03</a:t>
            </a:r>
          </a:p>
        </p:txBody>
      </p:sp>
      <p:sp>
        <p:nvSpPr>
          <p:cNvPr id="13" name="TextBox 12"/>
          <p:cNvSpPr txBox="1"/>
          <p:nvPr/>
        </p:nvSpPr>
        <p:spPr>
          <a:xfrm>
            <a:off x="1389888" y="4133088"/>
            <a:ext cx="4297680" cy="676656"/>
          </a:xfrm>
          <a:prstGeom prst="rect">
            <a:avLst/>
          </a:prstGeom>
          <a:noFill/>
        </p:spPr>
        <p:txBody>
          <a:bodyPr wrap="square" lIns="0" rIns="0" tIns="0" bIns="0" anchor="t">
            <a:spAutoFit/>
          </a:bodyPr>
          <a:lstStyle/>
          <a:p>
            <a:pPr>
              <a:lnSpc>
                <a:spcPct val="106000"/>
              </a:lnSpc>
              <a:spcAft>
                <a:spcPts val="0"/>
              </a:spcAft>
              <a:defRPr sz="2700">
                <a:solidFill>
                  <a:srgbClr val="181918"/>
                </a:solidFill>
                <a:latin typeface="General Sans Medium"/>
              </a:defRPr>
            </a:pPr>
            <a:r>
              <a:t>A phone-sized screen</a:t>
            </a:r>
          </a:p>
        </p:txBody>
      </p:sp>
      <p:sp>
        <p:nvSpPr>
          <p:cNvPr id="14" name="TextBox 13"/>
          <p:cNvSpPr txBox="1"/>
          <p:nvPr/>
        </p:nvSpPr>
        <p:spPr>
          <a:xfrm>
            <a:off x="5824728" y="4197096"/>
            <a:ext cx="5577840" cy="822960"/>
          </a:xfrm>
          <a:prstGeom prst="rect">
            <a:avLst/>
          </a:prstGeom>
          <a:noFill/>
        </p:spPr>
        <p:txBody>
          <a:bodyPr wrap="square" lIns="0" rIns="0" tIns="0" bIns="0" anchor="t">
            <a:spAutoFit/>
          </a:bodyPr>
          <a:lstStyle/>
          <a:p>
            <a:pPr>
              <a:lnSpc>
                <a:spcPct val="106000"/>
              </a:lnSpc>
              <a:spcAft>
                <a:spcPts val="0"/>
              </a:spcAft>
              <a:defRPr sz="2300">
                <a:solidFill>
                  <a:srgbClr val="181918"/>
                </a:solidFill>
                <a:latin typeface="General Sans"/>
              </a:defRPr>
            </a:pPr>
            <a:r>
              <a:t>Can you still read and use it?</a:t>
            </a:r>
          </a:p>
        </p:txBody>
      </p:sp>
      <p:sp>
        <p:nvSpPr>
          <p:cNvPr id="15" name="Rectangle 14"/>
          <p:cNvSpPr/>
          <p:nvPr/>
        </p:nvSpPr>
        <p:spPr>
          <a:xfrm>
            <a:off x="594360" y="5495544"/>
            <a:ext cx="10972800" cy="8229"/>
          </a:xfrm>
          <a:prstGeom prst="rect">
            <a:avLst/>
          </a:prstGeom>
          <a:solidFill>
            <a:srgbClr val="B9B8AF"/>
          </a:solidFill>
          <a:ln>
            <a:noFill/>
          </a:ln>
          <a:effectLst/>
        </p:spPr>
        <p:txBody>
          <a:bodyPr rtlCol="0" anchor="ctr"/>
          <a:lstStyle/>
          <a:p>
            <a:pPr algn="ctr"/>
          </a:p>
        </p:txBody>
      </p:sp>
      <p:sp>
        <p:nvSpPr>
          <p:cNvPr id="16" name="TextBox 15"/>
          <p:cNvSpPr txBox="1"/>
          <p:nvPr/>
        </p:nvSpPr>
        <p:spPr>
          <a:xfrm>
            <a:off x="594360" y="5934456"/>
            <a:ext cx="10972800" cy="502920"/>
          </a:xfrm>
          <a:prstGeom prst="rect">
            <a:avLst/>
          </a:prstGeom>
          <a:noFill/>
        </p:spPr>
        <p:txBody>
          <a:bodyPr wrap="square" lIns="0" rIns="0" tIns="0" bIns="0" anchor="t">
            <a:spAutoFit/>
          </a:bodyPr>
          <a:lstStyle/>
          <a:p>
            <a:pPr>
              <a:lnSpc>
                <a:spcPct val="106000"/>
              </a:lnSpc>
              <a:spcAft>
                <a:spcPts val="0"/>
              </a:spcAft>
              <a:defRPr sz="2000">
                <a:solidFill>
                  <a:srgbClr val="50504B"/>
                </a:solidFill>
                <a:latin typeface="General Sans"/>
              </a:defRPr>
            </a:pPr>
            <a:r>
              <a:t>Use fictional data. Review before real users or payments.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un.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14</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Make one improvement</a:t>
            </a:r>
          </a:p>
        </p:txBody>
      </p:sp>
      <p:sp>
        <p:nvSpPr>
          <p:cNvPr id="6" name="TextBox 5"/>
          <p:cNvSpPr txBox="1"/>
          <p:nvPr/>
        </p:nvSpPr>
        <p:spPr>
          <a:xfrm>
            <a:off x="603504" y="2578608"/>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01</a:t>
            </a:r>
          </a:p>
        </p:txBody>
      </p:sp>
      <p:sp>
        <p:nvSpPr>
          <p:cNvPr id="7" name="TextBox 6"/>
          <p:cNvSpPr txBox="1"/>
          <p:nvPr/>
        </p:nvSpPr>
        <p:spPr>
          <a:xfrm>
            <a:off x="1444752" y="2523744"/>
            <a:ext cx="9692640" cy="594360"/>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a:defRPr>
            </a:pPr>
            <a:r>
              <a:t>Check what could be better.</a:t>
            </a:r>
          </a:p>
        </p:txBody>
      </p:sp>
      <p:sp>
        <p:nvSpPr>
          <p:cNvPr id="8" name="TextBox 7"/>
          <p:cNvSpPr txBox="1"/>
          <p:nvPr/>
        </p:nvSpPr>
        <p:spPr>
          <a:xfrm>
            <a:off x="603504" y="3282696"/>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02</a:t>
            </a:r>
          </a:p>
        </p:txBody>
      </p:sp>
      <p:sp>
        <p:nvSpPr>
          <p:cNvPr id="9" name="TextBox 8"/>
          <p:cNvSpPr txBox="1"/>
          <p:nvPr/>
        </p:nvSpPr>
        <p:spPr>
          <a:xfrm>
            <a:off x="1444752" y="3227832"/>
            <a:ext cx="9692640" cy="594360"/>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a:defRPr>
            </a:pPr>
            <a:r>
              <a:t>Describe one focused change.</a:t>
            </a:r>
          </a:p>
        </p:txBody>
      </p:sp>
      <p:sp>
        <p:nvSpPr>
          <p:cNvPr id="10" name="TextBox 9"/>
          <p:cNvSpPr txBox="1"/>
          <p:nvPr/>
        </p:nvSpPr>
        <p:spPr>
          <a:xfrm>
            <a:off x="603504" y="3986783"/>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03</a:t>
            </a:r>
          </a:p>
        </p:txBody>
      </p:sp>
      <p:sp>
        <p:nvSpPr>
          <p:cNvPr id="11" name="TextBox 10"/>
          <p:cNvSpPr txBox="1"/>
          <p:nvPr/>
        </p:nvSpPr>
        <p:spPr>
          <a:xfrm>
            <a:off x="1444752" y="3931920"/>
            <a:ext cx="9692640" cy="594360"/>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a:defRPr>
            </a:pPr>
            <a:r>
              <a:t>Let AI update it.</a:t>
            </a:r>
          </a:p>
        </p:txBody>
      </p:sp>
      <p:sp>
        <p:nvSpPr>
          <p:cNvPr id="12" name="TextBox 11"/>
          <p:cNvSpPr txBox="1"/>
          <p:nvPr/>
        </p:nvSpPr>
        <p:spPr>
          <a:xfrm>
            <a:off x="603504" y="4690872"/>
            <a:ext cx="640080" cy="365760"/>
          </a:xfrm>
          <a:prstGeom prst="rect">
            <a:avLst/>
          </a:prstGeom>
          <a:noFill/>
        </p:spPr>
        <p:txBody>
          <a:bodyPr wrap="square" lIns="0" rIns="0" tIns="0" bIns="0" anchor="t">
            <a:spAutoFit/>
          </a:bodyPr>
          <a:lstStyle/>
          <a:p>
            <a:pPr>
              <a:lnSpc>
                <a:spcPct val="106000"/>
              </a:lnSpc>
              <a:spcAft>
                <a:spcPts val="0"/>
              </a:spcAft>
              <a:defRPr sz="1700">
                <a:solidFill>
                  <a:srgbClr val="181918"/>
                </a:solidFill>
                <a:latin typeface="General Sans"/>
              </a:defRPr>
            </a:pPr>
            <a:r>
              <a:t>04</a:t>
            </a:r>
          </a:p>
        </p:txBody>
      </p:sp>
      <p:sp>
        <p:nvSpPr>
          <p:cNvPr id="13" name="TextBox 12"/>
          <p:cNvSpPr txBox="1"/>
          <p:nvPr/>
        </p:nvSpPr>
        <p:spPr>
          <a:xfrm>
            <a:off x="1444752" y="4636008"/>
            <a:ext cx="9692640" cy="594360"/>
          </a:xfrm>
          <a:prstGeom prst="rect">
            <a:avLst/>
          </a:prstGeom>
          <a:noFill/>
        </p:spPr>
        <p:txBody>
          <a:bodyPr wrap="square" lIns="0" rIns="0" tIns="0" bIns="0" anchor="t">
            <a:spAutoFit/>
          </a:bodyPr>
          <a:lstStyle/>
          <a:p>
            <a:pPr>
              <a:lnSpc>
                <a:spcPct val="106000"/>
              </a:lnSpc>
              <a:spcAft>
                <a:spcPts val="0"/>
              </a:spcAft>
              <a:defRPr sz="3000">
                <a:solidFill>
                  <a:srgbClr val="181918"/>
                </a:solidFill>
                <a:latin typeface="General Sans"/>
              </a:defRPr>
            </a:pPr>
            <a:r>
              <a:t>Recheck. Save the working version.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rm.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15</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Q&amp;A</a:t>
            </a:r>
          </a:p>
        </p:txBody>
      </p:sp>
      <p:sp>
        <p:nvSpPr>
          <p:cNvPr id="6" name="TextBox 5"/>
          <p:cNvSpPr txBox="1"/>
          <p:nvPr/>
        </p:nvSpPr>
        <p:spPr>
          <a:xfrm>
            <a:off x="594360" y="4416552"/>
            <a:ext cx="10972800" cy="73152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a:defRPr>
            </a:pPr>
            <a:r>
              <a:t>Questions &amp; discussion · 5–10 minutes</a:t>
            </a:r>
          </a:p>
        </p:txBody>
      </p:sp>
      <p:sp>
        <p:nvSpPr>
          <p:cNvPr id="7" name="TextBox 6"/>
          <p:cNvSpPr txBox="1"/>
          <p:nvPr/>
        </p:nvSpPr>
        <p:spPr>
          <a:xfrm>
            <a:off x="594360" y="5989320"/>
            <a:ext cx="10972800" cy="548640"/>
          </a:xfrm>
          <a:prstGeom prst="rect">
            <a:avLst/>
          </a:prstGeom>
          <a:noFill/>
        </p:spPr>
        <p:txBody>
          <a:bodyPr wrap="square" lIns="0" rIns="0" tIns="0" bIns="0" anchor="t">
            <a:spAutoFit/>
          </a:bodyPr>
          <a:lstStyle/>
          <a:p>
            <a:pPr>
              <a:lnSpc>
                <a:spcPct val="130000"/>
              </a:lnSpc>
              <a:spcAft>
                <a:spcPts val="0"/>
              </a:spcAft>
              <a:defRPr sz="1100">
                <a:solidFill>
                  <a:srgbClr val="181918"/>
                </a:solidFill>
                <a:latin typeface="General Sans"/>
              </a:defRPr>
            </a:pPr>
            <a:r>
              <a:t>Teaching material adapted from Chai Pin Zheng (Ducksss) · github.com/Ducksss/vibe-coding-workshop</a:t>
            </a:r>
          </a:p>
          <a:p>
            <a:pPr>
              <a:lnSpc>
                <a:spcPct val="130000"/>
              </a:lnSpc>
              <a:spcAft>
                <a:spcPts val="0"/>
              </a:spcAft>
              <a:defRPr sz="1100">
                <a:solidFill>
                  <a:srgbClr val="181918"/>
                </a:solidFill>
                <a:latin typeface="General Sans"/>
              </a:defRPr>
            </a:pPr>
            <a:r>
              <a:t>Visual reference: Orange by Marmalade 2025 · Marmalade Collective via Deck Gallery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rm.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16</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Build your own project</a:t>
            </a:r>
          </a:p>
        </p:txBody>
      </p:sp>
      <p:sp>
        <p:nvSpPr>
          <p:cNvPr id="6" name="TextBox 5"/>
          <p:cNvSpPr txBox="1"/>
          <p:nvPr/>
        </p:nvSpPr>
        <p:spPr>
          <a:xfrm>
            <a:off x="594360" y="2075688"/>
            <a:ext cx="10972800" cy="365760"/>
          </a:xfrm>
          <a:prstGeom prst="rect">
            <a:avLst/>
          </a:prstGeom>
          <a:noFill/>
        </p:spPr>
        <p:txBody>
          <a:bodyPr wrap="square" lIns="0" rIns="0" tIns="0" bIns="0" anchor="t">
            <a:spAutoFit/>
          </a:bodyPr>
          <a:lstStyle/>
          <a:p>
            <a:pPr>
              <a:lnSpc>
                <a:spcPct val="106000"/>
              </a:lnSpc>
              <a:spcAft>
                <a:spcPts val="0"/>
              </a:spcAft>
              <a:defRPr sz="1400">
                <a:solidFill>
                  <a:srgbClr val="181918"/>
                </a:solidFill>
                <a:latin typeface="General Sans Medium"/>
              </a:defRPr>
            </a:pPr>
            <a:r>
              <a:t>30–45 MINUTES</a:t>
            </a:r>
          </a:p>
        </p:txBody>
      </p:sp>
      <p:sp>
        <p:nvSpPr>
          <p:cNvPr id="7" name="TextBox 6"/>
          <p:cNvSpPr txBox="1"/>
          <p:nvPr/>
        </p:nvSpPr>
        <p:spPr>
          <a:xfrm>
            <a:off x="594360" y="2624328"/>
            <a:ext cx="5669280" cy="50292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Surplus-food marketplace</a:t>
            </a:r>
          </a:p>
        </p:txBody>
      </p:sp>
      <p:sp>
        <p:nvSpPr>
          <p:cNvPr id="8" name="TextBox 7"/>
          <p:cNvSpPr txBox="1"/>
          <p:nvPr/>
        </p:nvSpPr>
        <p:spPr>
          <a:xfrm>
            <a:off x="6537960" y="2660904"/>
            <a:ext cx="5056632" cy="621792"/>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Browse sample meals and show a reservation.</a:t>
            </a:r>
          </a:p>
        </p:txBody>
      </p:sp>
      <p:sp>
        <p:nvSpPr>
          <p:cNvPr id="9" name="TextBox 8"/>
          <p:cNvSpPr txBox="1"/>
          <p:nvPr/>
        </p:nvSpPr>
        <p:spPr>
          <a:xfrm>
            <a:off x="594360" y="3383280"/>
            <a:ext cx="5669280" cy="50292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Student freelance marketplace</a:t>
            </a:r>
          </a:p>
        </p:txBody>
      </p:sp>
      <p:sp>
        <p:nvSpPr>
          <p:cNvPr id="10" name="TextBox 9"/>
          <p:cNvSpPr txBox="1"/>
          <p:nvPr/>
        </p:nvSpPr>
        <p:spPr>
          <a:xfrm>
            <a:off x="6537960" y="3419856"/>
            <a:ext cx="5056632" cy="621792"/>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Browse services and preview a request.</a:t>
            </a:r>
          </a:p>
        </p:txBody>
      </p:sp>
      <p:sp>
        <p:nvSpPr>
          <p:cNvPr id="11" name="TextBox 10"/>
          <p:cNvSpPr txBox="1"/>
          <p:nvPr/>
        </p:nvSpPr>
        <p:spPr>
          <a:xfrm>
            <a:off x="594360" y="4142232"/>
            <a:ext cx="5669280" cy="50292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Creator–sponsor matching</a:t>
            </a:r>
          </a:p>
        </p:txBody>
      </p:sp>
      <p:sp>
        <p:nvSpPr>
          <p:cNvPr id="12" name="TextBox 11"/>
          <p:cNvSpPr txBox="1"/>
          <p:nvPr/>
        </p:nvSpPr>
        <p:spPr>
          <a:xfrm>
            <a:off x="6537960" y="4178808"/>
            <a:ext cx="5056632" cy="621792"/>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Browse sample matches and preview a pitch.</a:t>
            </a:r>
          </a:p>
        </p:txBody>
      </p:sp>
      <p:sp>
        <p:nvSpPr>
          <p:cNvPr id="13" name="TextBox 12"/>
          <p:cNvSpPr txBox="1"/>
          <p:nvPr/>
        </p:nvSpPr>
        <p:spPr>
          <a:xfrm>
            <a:off x="594360" y="4901183"/>
            <a:ext cx="5669280" cy="502920"/>
          </a:xfrm>
          <a:prstGeom prst="rect">
            <a:avLst/>
          </a:prstGeom>
          <a:noFill/>
        </p:spPr>
        <p:txBody>
          <a:bodyPr wrap="square" lIns="0" rIns="0" tIns="0" bIns="0" anchor="t">
            <a:spAutoFit/>
          </a:bodyPr>
          <a:lstStyle/>
          <a:p>
            <a:pPr>
              <a:lnSpc>
                <a:spcPct val="106000"/>
              </a:lnSpc>
              <a:spcAft>
                <a:spcPts val="0"/>
              </a:spcAft>
              <a:defRPr sz="2500">
                <a:solidFill>
                  <a:srgbClr val="181918"/>
                </a:solidFill>
                <a:latin typeface="General Sans Medium"/>
              </a:defRPr>
            </a:pPr>
            <a:r>
              <a:t>Local service quote platform</a:t>
            </a:r>
          </a:p>
        </p:txBody>
      </p:sp>
      <p:sp>
        <p:nvSpPr>
          <p:cNvPr id="14" name="TextBox 13"/>
          <p:cNvSpPr txBox="1"/>
          <p:nvPr/>
        </p:nvSpPr>
        <p:spPr>
          <a:xfrm>
            <a:off x="6537960" y="4937759"/>
            <a:ext cx="5056632" cy="621792"/>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Compare sample quotes for a job.</a:t>
            </a:r>
          </a:p>
        </p:txBody>
      </p:sp>
      <p:sp>
        <p:nvSpPr>
          <p:cNvPr id="15" name="Rectangle 14"/>
          <p:cNvSpPr/>
          <p:nvPr/>
        </p:nvSpPr>
        <p:spPr>
          <a:xfrm>
            <a:off x="594360" y="5833872"/>
            <a:ext cx="10972800" cy="8229"/>
          </a:xfrm>
          <a:prstGeom prst="rect">
            <a:avLst/>
          </a:prstGeom>
          <a:solidFill>
            <a:srgbClr val="B9B8AF"/>
          </a:solidFill>
          <a:ln>
            <a:noFill/>
          </a:ln>
          <a:effectLst/>
        </p:spPr>
        <p:txBody>
          <a:bodyPr rtlCol="0" anchor="ctr"/>
          <a:lstStyle/>
          <a:p>
            <a:pPr algn="ctr"/>
          </a:p>
        </p:txBody>
      </p:sp>
      <p:sp>
        <p:nvSpPr>
          <p:cNvPr id="16" name="TextBox 15"/>
          <p:cNvSpPr txBox="1"/>
          <p:nvPr/>
        </p:nvSpPr>
        <p:spPr>
          <a:xfrm>
            <a:off x="594360" y="6163056"/>
            <a:ext cx="10972800" cy="438912"/>
          </a:xfrm>
          <a:prstGeom prst="rect">
            <a:avLst/>
          </a:prstGeom>
          <a:noFill/>
        </p:spPr>
        <p:txBody>
          <a:bodyPr wrap="square" lIns="0" rIns="0" tIns="0" bIns="0" anchor="t">
            <a:spAutoFit/>
          </a:bodyPr>
          <a:lstStyle/>
          <a:p>
            <a:pPr>
              <a:lnSpc>
                <a:spcPct val="106000"/>
              </a:lnSpc>
              <a:spcAft>
                <a:spcPts val="0"/>
              </a:spcAft>
              <a:defRPr sz="2000">
                <a:solidFill>
                  <a:srgbClr val="181918"/>
                </a:solidFill>
                <a:latin typeface="General Sans"/>
              </a:defRPr>
            </a:pPr>
            <a:r>
              <a:t>Build one interaction with made-up data. Improve it once. Check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17</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Project schedule</a:t>
            </a:r>
          </a:p>
        </p:txBody>
      </p:sp>
      <p:sp>
        <p:nvSpPr>
          <p:cNvPr id="6" name="TextBox 5"/>
          <p:cNvSpPr txBox="1"/>
          <p:nvPr/>
        </p:nvSpPr>
        <p:spPr>
          <a:xfrm>
            <a:off x="594360" y="2322576"/>
            <a:ext cx="2011680" cy="54864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Medium"/>
              </a:defRPr>
            </a:pPr>
            <a:r>
              <a:t>5 min</a:t>
            </a:r>
          </a:p>
        </p:txBody>
      </p:sp>
      <p:sp>
        <p:nvSpPr>
          <p:cNvPr id="7" name="TextBox 6"/>
          <p:cNvSpPr txBox="1"/>
          <p:nvPr/>
        </p:nvSpPr>
        <p:spPr>
          <a:xfrm>
            <a:off x="3090672" y="2322576"/>
            <a:ext cx="8412480" cy="59436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a:defRPr>
            </a:pPr>
            <a:r>
              <a:t>Choose an idea + write your brief.</a:t>
            </a:r>
          </a:p>
        </p:txBody>
      </p:sp>
      <p:sp>
        <p:nvSpPr>
          <p:cNvPr id="8" name="TextBox 7"/>
          <p:cNvSpPr txBox="1"/>
          <p:nvPr/>
        </p:nvSpPr>
        <p:spPr>
          <a:xfrm>
            <a:off x="594360" y="3063240"/>
            <a:ext cx="2011680" cy="54864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Medium"/>
              </a:defRPr>
            </a:pPr>
            <a:r>
              <a:t>15 min</a:t>
            </a:r>
          </a:p>
        </p:txBody>
      </p:sp>
      <p:sp>
        <p:nvSpPr>
          <p:cNvPr id="9" name="TextBox 8"/>
          <p:cNvSpPr txBox="1"/>
          <p:nvPr/>
        </p:nvSpPr>
        <p:spPr>
          <a:xfrm>
            <a:off x="3090672" y="3063240"/>
            <a:ext cx="8412480" cy="59436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a:defRPr>
            </a:pPr>
            <a:r>
              <a:t>Build the first version.</a:t>
            </a:r>
          </a:p>
        </p:txBody>
      </p:sp>
      <p:sp>
        <p:nvSpPr>
          <p:cNvPr id="10" name="TextBox 9"/>
          <p:cNvSpPr txBox="1"/>
          <p:nvPr/>
        </p:nvSpPr>
        <p:spPr>
          <a:xfrm>
            <a:off x="594360" y="3803904"/>
            <a:ext cx="2011680" cy="54864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Medium"/>
              </a:defRPr>
            </a:pPr>
            <a:r>
              <a:t>7 min</a:t>
            </a:r>
          </a:p>
        </p:txBody>
      </p:sp>
      <p:sp>
        <p:nvSpPr>
          <p:cNvPr id="11" name="TextBox 10"/>
          <p:cNvSpPr txBox="1"/>
          <p:nvPr/>
        </p:nvSpPr>
        <p:spPr>
          <a:xfrm>
            <a:off x="3090672" y="3803904"/>
            <a:ext cx="8412480" cy="59436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a:defRPr>
            </a:pPr>
            <a:r>
              <a:t>Improve it + check it.</a:t>
            </a:r>
          </a:p>
        </p:txBody>
      </p:sp>
      <p:sp>
        <p:nvSpPr>
          <p:cNvPr id="12" name="TextBox 11"/>
          <p:cNvSpPr txBox="1"/>
          <p:nvPr/>
        </p:nvSpPr>
        <p:spPr>
          <a:xfrm>
            <a:off x="594360" y="4544568"/>
            <a:ext cx="2011680" cy="54864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Medium"/>
              </a:defRPr>
            </a:pPr>
            <a:r>
              <a:t>3 min</a:t>
            </a:r>
          </a:p>
        </p:txBody>
      </p:sp>
      <p:sp>
        <p:nvSpPr>
          <p:cNvPr id="13" name="TextBox 12"/>
          <p:cNvSpPr txBox="1"/>
          <p:nvPr/>
        </p:nvSpPr>
        <p:spPr>
          <a:xfrm>
            <a:off x="3090672" y="4544568"/>
            <a:ext cx="8412480" cy="594360"/>
          </a:xfrm>
          <a:prstGeom prst="rect">
            <a:avLst/>
          </a:prstGeom>
          <a:noFill/>
        </p:spPr>
        <p:txBody>
          <a:bodyPr wrap="square" lIns="0" rIns="0" tIns="0" bIns="0" anchor="t">
            <a:spAutoFit/>
          </a:bodyPr>
          <a:lstStyle/>
          <a:p>
            <a:pPr>
              <a:lnSpc>
                <a:spcPct val="106000"/>
              </a:lnSpc>
              <a:spcAft>
                <a:spcPts val="0"/>
              </a:spcAft>
              <a:defRPr sz="2800">
                <a:solidFill>
                  <a:srgbClr val="181918"/>
                </a:solidFill>
                <a:latin typeface="General Sans"/>
              </a:defRPr>
            </a:pPr>
            <a:r>
              <a:t>Save your working version.</a:t>
            </a:r>
          </a:p>
        </p:txBody>
      </p:sp>
      <p:sp>
        <p:nvSpPr>
          <p:cNvPr id="14" name="Rectangle 13"/>
          <p:cNvSpPr/>
          <p:nvPr/>
        </p:nvSpPr>
        <p:spPr>
          <a:xfrm>
            <a:off x="594360" y="5541264"/>
            <a:ext cx="10972800" cy="8229"/>
          </a:xfrm>
          <a:prstGeom prst="rect">
            <a:avLst/>
          </a:prstGeom>
          <a:solidFill>
            <a:srgbClr val="B9B8AF"/>
          </a:solidFill>
          <a:ln>
            <a:noFill/>
          </a:ln>
          <a:effectLst/>
        </p:spPr>
        <p:txBody>
          <a:bodyPr rtlCol="0" anchor="ctr"/>
          <a:lstStyle/>
          <a:p>
            <a:pPr algn="ctr"/>
          </a:p>
        </p:txBody>
      </p:sp>
      <p:sp>
        <p:nvSpPr>
          <p:cNvPr id="15" name="TextBox 14"/>
          <p:cNvSpPr txBox="1"/>
          <p:nvPr/>
        </p:nvSpPr>
        <p:spPr>
          <a:xfrm>
            <a:off x="594360" y="5879592"/>
            <a:ext cx="10972800" cy="594360"/>
          </a:xfrm>
          <a:prstGeom prst="rect">
            <a:avLst/>
          </a:prstGeom>
          <a:noFill/>
        </p:spPr>
        <p:txBody>
          <a:bodyPr wrap="square" lIns="0" rIns="0" tIns="0" bIns="0" anchor="t">
            <a:spAutoFit/>
          </a:bodyPr>
          <a:lstStyle/>
          <a:p>
            <a:pPr>
              <a:lnSpc>
                <a:spcPct val="106000"/>
              </a:lnSpc>
              <a:spcAft>
                <a:spcPts val="0"/>
              </a:spcAft>
              <a:defRPr sz="2100">
                <a:solidFill>
                  <a:srgbClr val="181918"/>
                </a:solidFill>
                <a:latin typeface="General Sans"/>
              </a:defRPr>
            </a:pPr>
            <a:r>
              <a:t>Have 45 minutes? Add 15 to refine and review with a partner.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ol.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18</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Two frameworks</a:t>
            </a:r>
          </a:p>
        </p:txBody>
      </p:sp>
      <p:sp>
        <p:nvSpPr>
          <p:cNvPr id="6" name="TextBox 5"/>
          <p:cNvSpPr txBox="1"/>
          <p:nvPr/>
        </p:nvSpPr>
        <p:spPr>
          <a:xfrm>
            <a:off x="594360" y="2459736"/>
            <a:ext cx="914400" cy="457200"/>
          </a:xfrm>
          <a:prstGeom prst="rect">
            <a:avLst/>
          </a:prstGeom>
          <a:noFill/>
        </p:spPr>
        <p:txBody>
          <a:bodyPr wrap="square" lIns="0" rIns="0" tIns="0" bIns="0" anchor="t">
            <a:spAutoFit/>
          </a:bodyPr>
          <a:lstStyle/>
          <a:p>
            <a:pPr>
              <a:lnSpc>
                <a:spcPct val="106000"/>
              </a:lnSpc>
              <a:spcAft>
                <a:spcPts val="0"/>
              </a:spcAft>
              <a:defRPr sz="1800">
                <a:solidFill>
                  <a:srgbClr val="181918"/>
                </a:solidFill>
                <a:latin typeface="General Sans"/>
              </a:defRPr>
            </a:pPr>
            <a:r>
              <a:t>01</a:t>
            </a:r>
          </a:p>
        </p:txBody>
      </p:sp>
      <p:sp>
        <p:nvSpPr>
          <p:cNvPr id="7" name="TextBox 6"/>
          <p:cNvSpPr txBox="1"/>
          <p:nvPr/>
        </p:nvSpPr>
        <p:spPr>
          <a:xfrm>
            <a:off x="1472184" y="2395728"/>
            <a:ext cx="9509760" cy="640080"/>
          </a:xfrm>
          <a:prstGeom prst="rect">
            <a:avLst/>
          </a:prstGeom>
          <a:noFill/>
        </p:spPr>
        <p:txBody>
          <a:bodyPr wrap="square" lIns="0" rIns="0" tIns="0" bIns="0" anchor="t">
            <a:spAutoFit/>
          </a:bodyPr>
          <a:lstStyle/>
          <a:p>
            <a:pPr>
              <a:lnSpc>
                <a:spcPct val="106000"/>
              </a:lnSpc>
              <a:spcAft>
                <a:spcPts val="0"/>
              </a:spcAft>
              <a:defRPr sz="3500">
                <a:solidFill>
                  <a:srgbClr val="181918"/>
                </a:solidFill>
                <a:latin typeface="General Sans Medium"/>
              </a:defRPr>
            </a:pPr>
            <a:r>
              <a:t>How to prompt</a:t>
            </a:r>
          </a:p>
        </p:txBody>
      </p:sp>
      <p:sp>
        <p:nvSpPr>
          <p:cNvPr id="8" name="TextBox 7"/>
          <p:cNvSpPr txBox="1"/>
          <p:nvPr/>
        </p:nvSpPr>
        <p:spPr>
          <a:xfrm>
            <a:off x="1472184" y="3273552"/>
            <a:ext cx="9784080" cy="1051560"/>
          </a:xfrm>
          <a:prstGeom prst="rect">
            <a:avLst/>
          </a:prstGeom>
          <a:noFill/>
        </p:spPr>
        <p:txBody>
          <a:bodyPr wrap="square" lIns="0" rIns="0" tIns="0" bIns="0" anchor="t">
            <a:spAutoFit/>
          </a:bodyPr>
          <a:lstStyle/>
          <a:p>
            <a:pPr>
              <a:lnSpc>
                <a:spcPct val="122000"/>
              </a:lnSpc>
              <a:spcAft>
                <a:spcPts val="0"/>
              </a:spcAft>
              <a:defRPr sz="2500">
                <a:solidFill>
                  <a:srgbClr val="181918"/>
                </a:solidFill>
                <a:latin typeface="General Sans"/>
              </a:defRPr>
            </a:pPr>
            <a:r>
              <a:t>Purpose · Design · Behaviour</a:t>
            </a:r>
          </a:p>
          <a:p>
            <a:pPr>
              <a:lnSpc>
                <a:spcPct val="122000"/>
              </a:lnSpc>
              <a:spcAft>
                <a:spcPts val="0"/>
              </a:spcAft>
              <a:defRPr sz="2500">
                <a:solidFill>
                  <a:srgbClr val="181918"/>
                </a:solidFill>
                <a:latin typeface="General Sans"/>
              </a:defRPr>
            </a:pPr>
            <a:r>
              <a:t>Constraints · Verify</a:t>
            </a:r>
          </a:p>
        </p:txBody>
      </p:sp>
      <p:sp>
        <p:nvSpPr>
          <p:cNvPr id="9" name="TextBox 8"/>
          <p:cNvSpPr txBox="1"/>
          <p:nvPr/>
        </p:nvSpPr>
        <p:spPr>
          <a:xfrm>
            <a:off x="594360" y="4581144"/>
            <a:ext cx="914400" cy="457200"/>
          </a:xfrm>
          <a:prstGeom prst="rect">
            <a:avLst/>
          </a:prstGeom>
          <a:noFill/>
        </p:spPr>
        <p:txBody>
          <a:bodyPr wrap="square" lIns="0" rIns="0" tIns="0" bIns="0" anchor="t">
            <a:spAutoFit/>
          </a:bodyPr>
          <a:lstStyle/>
          <a:p>
            <a:pPr>
              <a:lnSpc>
                <a:spcPct val="106000"/>
              </a:lnSpc>
              <a:spcAft>
                <a:spcPts val="0"/>
              </a:spcAft>
              <a:defRPr sz="1800">
                <a:solidFill>
                  <a:srgbClr val="181918"/>
                </a:solidFill>
                <a:latin typeface="General Sans"/>
              </a:defRPr>
            </a:pPr>
            <a:r>
              <a:t>02</a:t>
            </a:r>
          </a:p>
        </p:txBody>
      </p:sp>
      <p:sp>
        <p:nvSpPr>
          <p:cNvPr id="10" name="TextBox 9"/>
          <p:cNvSpPr txBox="1"/>
          <p:nvPr/>
        </p:nvSpPr>
        <p:spPr>
          <a:xfrm>
            <a:off x="1472184" y="4517136"/>
            <a:ext cx="9509760" cy="640080"/>
          </a:xfrm>
          <a:prstGeom prst="rect">
            <a:avLst/>
          </a:prstGeom>
          <a:noFill/>
        </p:spPr>
        <p:txBody>
          <a:bodyPr wrap="square" lIns="0" rIns="0" tIns="0" bIns="0" anchor="t">
            <a:spAutoFit/>
          </a:bodyPr>
          <a:lstStyle/>
          <a:p>
            <a:pPr>
              <a:lnSpc>
                <a:spcPct val="106000"/>
              </a:lnSpc>
              <a:spcAft>
                <a:spcPts val="0"/>
              </a:spcAft>
              <a:defRPr sz="3500">
                <a:solidFill>
                  <a:srgbClr val="181918"/>
                </a:solidFill>
                <a:latin typeface="General Sans Medium"/>
              </a:defRPr>
            </a:pPr>
            <a:r>
              <a:t>How to iterate and feedback</a:t>
            </a:r>
          </a:p>
        </p:txBody>
      </p:sp>
      <p:sp>
        <p:nvSpPr>
          <p:cNvPr id="11" name="TextBox 10"/>
          <p:cNvSpPr txBox="1"/>
          <p:nvPr/>
        </p:nvSpPr>
        <p:spPr>
          <a:xfrm>
            <a:off x="1472184" y="5431536"/>
            <a:ext cx="10058400" cy="713232"/>
          </a:xfrm>
          <a:prstGeom prst="rect">
            <a:avLst/>
          </a:prstGeom>
          <a:noFill/>
        </p:spPr>
        <p:txBody>
          <a:bodyPr wrap="square" lIns="0" rIns="0" tIns="0" bIns="0" anchor="t">
            <a:spAutoFit/>
          </a:bodyPr>
          <a:lstStyle/>
          <a:p>
            <a:pPr>
              <a:lnSpc>
                <a:spcPct val="106000"/>
              </a:lnSpc>
              <a:spcAft>
                <a:spcPts val="0"/>
              </a:spcAft>
              <a:defRPr sz="2400">
                <a:solidFill>
                  <a:srgbClr val="181918"/>
                </a:solidFill>
                <a:latin typeface="General Sans"/>
              </a:defRPr>
            </a:pPr>
            <a:r>
              <a:t>Check · Describe · Change · Recheck · Save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ol.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19</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Connect with us</a:t>
            </a:r>
          </a:p>
        </p:txBody>
      </p:sp>
      <p:sp>
        <p:nvSpPr>
          <p:cNvPr id="6" name="TextBox 5"/>
          <p:cNvSpPr txBox="1"/>
          <p:nvPr/>
        </p:nvSpPr>
        <p:spPr>
          <a:xfrm>
            <a:off x="594360" y="2267712"/>
            <a:ext cx="5029200" cy="731520"/>
          </a:xfrm>
          <a:prstGeom prst="rect">
            <a:avLst/>
          </a:prstGeom>
          <a:noFill/>
        </p:spPr>
        <p:txBody>
          <a:bodyPr wrap="square" lIns="0" rIns="0" tIns="0" bIns="0" anchor="t">
            <a:spAutoFit/>
          </a:bodyPr>
          <a:lstStyle/>
          <a:p>
            <a:pPr>
              <a:lnSpc>
                <a:spcPct val="106000"/>
              </a:lnSpc>
              <a:spcAft>
                <a:spcPts val="0"/>
              </a:spcAft>
              <a:defRPr sz="3600">
                <a:solidFill>
                  <a:srgbClr val="181918"/>
                </a:solidFill>
                <a:latin typeface="General Sans Medium"/>
              </a:defRPr>
            </a:pPr>
            <a:r>
              <a:t>Amit Vijapur</a:t>
            </a:r>
          </a:p>
        </p:txBody>
      </p:sp>
      <p:pic>
        <p:nvPicPr>
          <p:cNvPr id="7" name="Picture 6" descr="v6-qr-amitvijapur.png">
            <a:hlinkClick r:id="rId5"/>
          </p:cNvPr>
          <p:cNvPicPr>
            <a:picLocks noChangeAspect="1"/>
          </p:cNvPicPr>
          <p:nvPr/>
        </p:nvPicPr>
        <p:blipFill>
          <a:blip r:embed="rId4"/>
          <a:stretch>
            <a:fillRect/>
          </a:stretch>
        </p:blipFill>
        <p:spPr>
          <a:xfrm>
            <a:off x="594360" y="3236976"/>
            <a:ext cx="2057400" cy="2057400"/>
          </a:xfrm>
          <a:prstGeom prst="rect">
            <a:avLst/>
          </a:prstGeom>
        </p:spPr>
      </p:pic>
      <p:sp>
        <p:nvSpPr>
          <p:cNvPr id="8" name="TextBox 7"/>
          <p:cNvSpPr txBox="1"/>
          <p:nvPr/>
        </p:nvSpPr>
        <p:spPr>
          <a:xfrm>
            <a:off x="594360" y="5559552"/>
            <a:ext cx="5010912" cy="566928"/>
          </a:xfrm>
          <a:prstGeom prst="rect">
            <a:avLst/>
          </a:prstGeom>
          <a:noFill/>
        </p:spPr>
        <p:txBody>
          <a:bodyPr wrap="square" lIns="0" rIns="0" tIns="0" bIns="0" anchor="t">
            <a:spAutoFit/>
          </a:bodyPr>
          <a:lstStyle/>
          <a:p>
            <a:pPr>
              <a:lnSpc>
                <a:spcPct val="106000"/>
              </a:lnSpc>
              <a:spcAft>
                <a:spcPts val="0"/>
              </a:spcAft>
              <a:defRPr sz="2200">
                <a:solidFill>
                  <a:srgbClr val="181918"/>
                </a:solidFill>
                <a:latin typeface="General Sans"/>
              </a:defRPr>
            </a:pPr>
            <a:r>
              <a:rPr>
                <a:hlinkClick r:id="rId5"/>
              </a:rPr>
              <a:t>linkedin.com/in/amitvijapur</a:t>
            </a:r>
          </a:p>
        </p:txBody>
      </p:sp>
      <p:sp>
        <p:nvSpPr>
          <p:cNvPr id="9" name="TextBox 8"/>
          <p:cNvSpPr txBox="1"/>
          <p:nvPr/>
        </p:nvSpPr>
        <p:spPr>
          <a:xfrm>
            <a:off x="6492240" y="2267712"/>
            <a:ext cx="5029200" cy="731520"/>
          </a:xfrm>
          <a:prstGeom prst="rect">
            <a:avLst/>
          </a:prstGeom>
          <a:noFill/>
        </p:spPr>
        <p:txBody>
          <a:bodyPr wrap="square" lIns="0" rIns="0" tIns="0" bIns="0" anchor="t">
            <a:spAutoFit/>
          </a:bodyPr>
          <a:lstStyle/>
          <a:p>
            <a:pPr>
              <a:lnSpc>
                <a:spcPct val="106000"/>
              </a:lnSpc>
              <a:spcAft>
                <a:spcPts val="0"/>
              </a:spcAft>
              <a:defRPr sz="3600">
                <a:solidFill>
                  <a:srgbClr val="181918"/>
                </a:solidFill>
                <a:latin typeface="General Sans Medium"/>
              </a:defRPr>
            </a:pPr>
            <a:r>
              <a:t>Jason Cheng</a:t>
            </a:r>
          </a:p>
        </p:txBody>
      </p:sp>
      <p:pic>
        <p:nvPicPr>
          <p:cNvPr id="10" name="Picture 9" descr="v6-qr-jasoncty.png">
            <a:hlinkClick r:id="rId7"/>
          </p:cNvPr>
          <p:cNvPicPr>
            <a:picLocks noChangeAspect="1"/>
          </p:cNvPicPr>
          <p:nvPr/>
        </p:nvPicPr>
        <p:blipFill>
          <a:blip r:embed="rId6"/>
          <a:stretch>
            <a:fillRect/>
          </a:stretch>
        </p:blipFill>
        <p:spPr>
          <a:xfrm>
            <a:off x="6492240" y="3236976"/>
            <a:ext cx="2057400" cy="2057400"/>
          </a:xfrm>
          <a:prstGeom prst="rect">
            <a:avLst/>
          </a:prstGeom>
        </p:spPr>
      </p:pic>
      <p:sp>
        <p:nvSpPr>
          <p:cNvPr id="11" name="TextBox 10"/>
          <p:cNvSpPr txBox="1"/>
          <p:nvPr/>
        </p:nvSpPr>
        <p:spPr>
          <a:xfrm>
            <a:off x="6492240" y="5559552"/>
            <a:ext cx="5010912" cy="566928"/>
          </a:xfrm>
          <a:prstGeom prst="rect">
            <a:avLst/>
          </a:prstGeom>
          <a:noFill/>
        </p:spPr>
        <p:txBody>
          <a:bodyPr wrap="square" lIns="0" rIns="0" tIns="0" bIns="0" anchor="t">
            <a:spAutoFit/>
          </a:bodyPr>
          <a:lstStyle/>
          <a:p>
            <a:pPr>
              <a:lnSpc>
                <a:spcPct val="106000"/>
              </a:lnSpc>
              <a:spcAft>
                <a:spcPts val="0"/>
              </a:spcAft>
              <a:defRPr sz="2200">
                <a:solidFill>
                  <a:srgbClr val="181918"/>
                </a:solidFill>
                <a:latin typeface="General Sans"/>
              </a:defRPr>
            </a:pPr>
            <a:r>
              <a:rPr>
                <a:hlinkClick r:id="rId7"/>
              </a:rPr>
              <a:t>linkedin.com/in/jasoncty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rm.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548640" y="310896"/>
            <a:ext cx="2743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Medium"/>
              </a:defRPr>
            </a:pPr>
            <a:r>
              <a:t>AMIT + JASON</a:t>
            </a:r>
          </a:p>
        </p:txBody>
      </p:sp>
      <p:sp>
        <p:nvSpPr>
          <p:cNvPr id="4" name="TextBox 3"/>
          <p:cNvSpPr txBox="1"/>
          <p:nvPr/>
        </p:nvSpPr>
        <p:spPr>
          <a:xfrm>
            <a:off x="11137392" y="310896"/>
            <a:ext cx="457200" cy="219456"/>
          </a:xfrm>
          <a:prstGeom prst="rect">
            <a:avLst/>
          </a:prstGeom>
          <a:noFill/>
        </p:spPr>
        <p:txBody>
          <a:bodyPr wrap="square" lIns="0" rIns="0" tIns="0" bIns="0" anchor="t">
            <a:spAutoFit/>
          </a:bodyPr>
          <a:lstStyle/>
          <a:p>
            <a:pPr>
              <a:lnSpc>
                <a:spcPct val="106000"/>
              </a:lnSpc>
              <a:spcAft>
                <a:spcPts val="0"/>
              </a:spcAft>
              <a:defRPr sz="1100">
                <a:solidFill>
                  <a:srgbClr val="181918"/>
                </a:solidFill>
                <a:latin typeface="General Sans"/>
              </a:defRPr>
            </a:pPr>
            <a:r>
              <a:t>20</a:t>
            </a:r>
          </a:p>
        </p:txBody>
      </p:sp>
      <p:sp>
        <p:nvSpPr>
          <p:cNvPr id="5" name="TextBox 4"/>
          <p:cNvSpPr txBox="1"/>
          <p:nvPr/>
        </p:nvSpPr>
        <p:spPr>
          <a:xfrm>
            <a:off x="594360" y="731520"/>
            <a:ext cx="10972800" cy="1508760"/>
          </a:xfrm>
          <a:prstGeom prst="rect">
            <a:avLst/>
          </a:prstGeom>
          <a:noFill/>
        </p:spPr>
        <p:txBody>
          <a:bodyPr wrap="square" lIns="0" rIns="0" tIns="0" bIns="0" anchor="t">
            <a:spAutoFit/>
          </a:bodyPr>
          <a:lstStyle/>
          <a:p>
            <a:pPr>
              <a:lnSpc>
                <a:spcPct val="100000"/>
              </a:lnSpc>
              <a:spcAft>
                <a:spcPts val="0"/>
              </a:spcAft>
              <a:defRPr sz="5400">
                <a:solidFill>
                  <a:srgbClr val="181918"/>
                </a:solidFill>
                <a:latin typeface="General Sans Medium"/>
              </a:defRPr>
            </a:pPr>
            <a:r>
              <a:t>Thank you</a:t>
            </a:r>
          </a:p>
        </p:txBody>
      </p:sp>
      <p:sp>
        <p:nvSpPr>
          <p:cNvPr id="6" name="TextBox 5"/>
          <p:cNvSpPr txBox="1"/>
          <p:nvPr/>
        </p:nvSpPr>
        <p:spPr>
          <a:xfrm>
            <a:off x="594360" y="5440680"/>
            <a:ext cx="10972800" cy="731520"/>
          </a:xfrm>
          <a:prstGeom prst="rect">
            <a:avLst/>
          </a:prstGeom>
          <a:noFill/>
        </p:spPr>
        <p:txBody>
          <a:bodyPr wrap="square" lIns="0" rIns="0" tIns="0" bIns="0" anchor="t">
            <a:spAutoFit/>
          </a:bodyPr>
          <a:lstStyle/>
          <a:p>
            <a:pPr>
              <a:lnSpc>
                <a:spcPct val="106000"/>
              </a:lnSpc>
              <a:spcAft>
                <a:spcPts val="0"/>
              </a:spcAft>
              <a:defRPr sz="3200">
                <a:solidFill>
                  <a:srgbClr val="181918"/>
                </a:solidFill>
                <a:latin typeface="General Sans"/>
              </a:defRPr>
            </a:pPr>
            <a:r>
              <a:t>Amit + Jason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 coding | Amit + Jason</dc:title>
  <dc:subject>Workshop review draft</dc:subject>
  <dc:creator>Amit + Jason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